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thanking AFFG for the detailed written response. Frame today as a working session: the job is to show each line item maps to a specific FINRA or SEC requirement. Set expectation: the revised proposal will be leaner where we can, but there are controls we cannot remove without creating an examination gap. Call out the five citations on the right - these are the rulebooks every design decision in this deck traces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"We don't store client data on personal devices" is a policy statement, not a control. Reg S-P 248.30(a) specifically requires BOTH written policies AND technical safeguards. Recent SEC exam deficiency letters (2023-2024) have cited firms whose written policies were not backed by enforceable technical controls. Walk through the three cards left-to-right: the risk, the rule, the response. This slide reframes the conversation from 'is this tool redundant' to 'which rule does each tool satisfy.'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rulebook slide. Walk through each citation briefly - don't linger. Reg S-P 248.30(a): the core safeguards rule for broker-dealers and advisers. Reg S-P 2024 amendments: added incident response, 30-day notification, annual review. Phases in 2025-2026. FINRA 3110(a) supervisory system; 3110(c) internal inspections - drives the assessment cadence discussion. SEC 17a-4(b) and (f): non-rewriteable records - this is the Veeam justification. FINRA 4511: books and records; SEC Cyber Risk Management: proposed rules already shaping exam expectations. If the client asks for full citation text, offer the appendix after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Before line-by-line, set the rule: 'Nothing goes in the proposal that doesn't map to a citation on this page.' That frames cost conversations as compliance conversations. Row 1 (VDI): 'where does regulated data live' - inside a controlled environment. Row 2 (MyAudit): 'can a user get data off the device' - USB, download, print, clipboard. M365 does not cover this. Row 3 (SSO/2FA): 'is MFA enforced AND logged on non-M365 portals' - most custodian portals fail this on their own. Row 4 (IP whitelist + managed endpoint): MFA alone doesn't stop a home-laptop login. Row 5 (Veeam): M365 retention is not backup. 17a-4(f) requires non-rewriteable preservation. Row 6 (Monthly assessment): FINRA 3110(c) inspections - drift detection. Row 7 (Audit logging): the evidence that makes everything else defensible. Close with: if the client wants to remove any row, ask which citation they are comfortable not satisfying.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answer the client's pushback: we ARE scoping Technijian Horizon VDI to only 7 users - they were right that firm-wide is unnecessary. But Horizon VDI itself for those 7 is not optional; it was compliance-driven in the original proposal and that hasn't changed. Three points: (1) Data stays in the Technijian datacenter - stolen laptop, ransomware, lost phone - none touches regulated data. (2) The 7 users are the people Reg S-P cares about. Everyone else stays on managed endpoints with IP-whitelisted M365 access. (3) Examiner POV: a defined Horizon VDI pool hosted by Technijian with documented membership is the cleanest answer to 'show us where customer records are processed.' Fallback if client pushes back on VDI entirely: managed endpoints + full MyAudit DLP + IP whitelist - weaker posture, must be noted.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first: both options are Technijian services hosted in the Technijian datacenter. The choice is how users are isolated from each other inside that environment. Option A - Dedicated Technijian Horizon VDI workstation: each user gets their own virtual workstation with its own Windows OS, memory, and filesystem. Hypervisor-level isolation. This is what 'isolated VDI workstations' in the original proposal meant. Option B - Multi-session Technijian RDP server: all 7 users log into one Windows Server hosted in the Technijian datacenter and share one OS kernel, one memory space, one filesystem namespace. Isolation between users is enforced by the OS and session boundaries alone - not by the hypervisor. For AFFG, every user in scope handles regulated customer data. When every occupant of the environment is in scope for Reg S-P, putting them all on one shared OS is the weaker posture. A single misconfiguration, kernel-level exploit, profile bleed, or admin error on the shared server affects every user simultaneously. Dedicated Horizon workstations avoid that entire class of problem: the blast radius is one workstation, one user, one log stream. It is also the cleanest possible answer to an examiner question about isolation between regulated users. The original proposal was built on this posture. Switching to the shared RDP server to save cost would walk back the compliance commitment. For 7 users, the cost delta is modest; the compliance delta is not. If the client pushes on cost: multi-session Technijian RDP can be offered as a fallback, but the isolation tradeoff must be documented in writing and acknowledged by AFFG.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important slide in the deck. The client's email claimed MFA is already handled - for M365 they're right. But MFA alone does not solve the real exfiltration vector: user at home on personal laptop logs into OneDrive or custodian portal, MFAs successfully, downloads regulated data locally. That workflow passes MFA but fails Reg S-P. Three layers: Layer 1 - MFA on EVERY portal, not just M365. Custodian bank portals typically don't enforce MFA natively with auditable logs; SSO gateway fixes that. Layer 2 - Office IP whitelist. Technijian-configured policies restrict M365 + OneDrive + every custodian portal to the office IP or Horizon VDI egress IP. Home laptop cannot reach data even with correct credentials. Layer 3 - Device compliance. Technijian-managed and compliant device required. Combined: user + MFA + office network + Technijian-managed device. Close: this is the control pattern examiners look for post-2024 Reg S-P amendments.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MyAudit justification slide. Client's email said MyAudit overlaps with M365 DLP - misunderstanding of what MyAudit does. MyAudit is endpoint / device DLP. M365 DLP is cloud / mail-flow DLP. Different layers, different scope. Walk the table row-by-row: first five rows all 'Not covered' by M365 E3 DLP. These are the exfiltration paths that matter - USB, local download, print, clipboard, screen capture. M365 DLP does cover rows 6-7 (email and SharePoint external sharing). We agree those are M365's job - MyAudit does not duplicate. Last row (browser upload): partial coverage only with M365 E5 + Defender for Cloud Apps. On E3, this is a gap MyAudit closes. Closing line: the overlap the client worried about does not exist. Complementary layers. Alternative if AFFG wants an all-Microsoft stack: E5 + Purview Endpoint DLP - but requires E5 licensing across all covered users plus endpoint enrollment, usually more expensive than Technijian MyAudit included in the managed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email suggested the $100/mo backup storage might overlap with Veeam pricing or M365 native retention. Address both. First: Veeam Backup for M365 is NOT just email backup - it backs up the entire tenant: Exchange, SharePoint, OneDrive, Teams channels and chat. Second: M365 native retention is a policy inside the tenant. If the tenant itself is the attack surface - compromised admin, ransomware via sync, retention edited by a bad actor, accidental mass deletion - retention cannot save you. Retention is not backup. SEC 17a-4(f) requires non-rewriteable, non-erasable preservation. Microsoft's built-in retention doesn't meet that bar alone; Veeam with immutable storage does. The $100/mo storage line is the repository cost. It is not duplicative - it is the control that makes 17a-4(f) compliance defensible. Concrete example: 'If a user account is compromised tomorrow and files deleted, M365 recycle bin gives 93 days at best. If retention is edited by the attacker, even less. Veeam gives immutable point-in-time recovery independent of the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assessment is a MONTHLY compliance review of physical site AND M365 tenant configuration to detect drift and produce attested evidence. Not automated monitoring - human-led review producing a signed evidence packet suitable for FINRA 3110(c) inspection. Labor justification: each cycle deploys assessment tooling, scans site and tenant, reviews findings, produces evidence packet, decommissions tooling. That's why $250/qtr is not 3x $50/mo - each quarterly cycle is a full engagement. Recommendation: MONTHLY at $50. Configuration drift between quarters is a common source of findings - an IP whitelist exception added and never removed, an MFA policy scoped wrong, a retention policy shortened. Monthly catches these. If client insists on lower cadence: offer $250/qtr but document that monthly was recommended. 2024 Reg S-P amendments made annual program review explicit. Monthly assessment makes annual review 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if we removed this' slide - direct answer to the client's cost-reduction instinct. Read down the rightmost column aloud: each row describes the specific regulatory gap that opens if that layer is removed. The design is not maximalist; it is minimal given the compliance footprint. Every layer is present because of a distinct requirement. Emphasize two rows: SSO/2FA gateway - without this, MFA enforcement on custodian portals is self-service and unauditable, exactly what 2024 Reg S-P amendments address. IP whitelist + managed endpoint - without this, a user at home on personal laptop is indistinguishable from a user at the office. MFA succeeds, data flows out. Framing if client asks to trim further: 'Which row are you comfortable telling an examiner is not technically enforced?' Usually ends the line-by-line cost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commit slide - what will actually change in the revised proposal. Frame: 'Here is what we heard, and here is what the revised proposal will say.' Concessions: VDI scoped to 7 users (cost down), one-time implementation fee reduced, quarterly assessment offered as alternative to monthly. Held firm: dedicated Technijian Horizon VDI workstations (not multi-session Technijian RDP - preserves the isolation posture in the original proposal), MyAudit retained (complementary, not duplicative), SSO/2FA retained (portal MFA gap), IP whitelist added (new and important), Veeam retained (tenant backup). Ask for consent before leaving the meeting on: (a) 7-user dedicated VDI scope, (b) IP whitelist on M365 and custodian portals, (c) endpoint DLP via MyAudit, (d) assessment cadence. Commit to delivering the revised proposal PDF within 3-5 business days with the control-to-citation appendix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meeting. Re-state the headline: policy is not a control, and every layer maps to a specific citation. Confirm decisions captured: VDI scope (7 users), desktop model (dedicated VDI workstations), portal MFA approach, IP whitelist scope, assessment cadence. Next steps: revised proposal PDF within 3-5 business days, includes control-to-citation appendix, reflects today's decisions. Offer a follow-up call after AFFG's internal review for any remaining questions before signature. Thank the client for the thoroughness of their written response - this engagement level is what makes the partnership successful.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6355080"/>
            <a:ext cx="12188952" cy="109728"/>
          </a:xfrm>
          <a:prstGeom prst="rect">
            <a:avLst/>
          </a:prstGeom>
          <a:solidFill>
            <a:srgbClr val="F67D4B"/>
          </a:solidFill>
          <a:ln w="12700">
            <a:solidFill>
              <a:srgbClr val="F67D4B">
                <a:alpha val="0"/>
              </a:srgbClr>
            </a:solidFill>
            <a:prstDash val="solid"/>
          </a:ln>
        </p:spPr>
      </p:sp>
      <p:sp>
        <p:nvSpPr>
          <p:cNvPr id="3" name="Shape 1"/>
          <p:cNvSpPr/>
          <p:nvPr/>
        </p:nvSpPr>
        <p:spPr>
          <a:xfrm>
            <a:off x="0" y="6236208"/>
            <a:ext cx="12188952" cy="27432"/>
          </a:xfrm>
          <a:prstGeom prst="rect">
            <a:avLst/>
          </a:prstGeom>
          <a:solidFill>
            <a:srgbClr val="1EAAC8"/>
          </a:solidFill>
          <a:ln w="12700">
            <a:solidFill>
              <a:srgbClr val="1EAAC8">
                <a:alpha val="0"/>
              </a:srgbClr>
            </a:solidFill>
            <a:prstDash val="solid"/>
          </a:ln>
        </p:spPr>
      </p:sp>
      <p:sp>
        <p:nvSpPr>
          <p:cNvPr id="4" name="Shape 2"/>
          <p:cNvSpPr/>
          <p:nvPr/>
        </p:nvSpPr>
        <p:spPr>
          <a:xfrm>
            <a:off x="548640" y="457200"/>
            <a:ext cx="82296" cy="82296"/>
          </a:xfrm>
          <a:prstGeom prst="roundRect">
            <a:avLst>
              <a:gd name="adj" fmla="val 16667"/>
            </a:avLst>
          </a:prstGeom>
          <a:solidFill>
            <a:srgbClr val="64748B"/>
          </a:solidFill>
          <a:ln w="12700">
            <a:solidFill>
              <a:srgbClr val="64748B">
                <a:alpha val="0"/>
              </a:srgbClr>
            </a:solidFill>
            <a:prstDash val="solid"/>
          </a:ln>
        </p:spPr>
      </p:sp>
      <p:sp>
        <p:nvSpPr>
          <p:cNvPr id="5" name="Shape 3"/>
          <p:cNvSpPr/>
          <p:nvPr/>
        </p:nvSpPr>
        <p:spPr>
          <a:xfrm>
            <a:off x="647395" y="457200"/>
            <a:ext cx="82296" cy="82296"/>
          </a:xfrm>
          <a:prstGeom prst="roundRect">
            <a:avLst>
              <a:gd name="adj" fmla="val 16667"/>
            </a:avLst>
          </a:prstGeom>
          <a:solidFill>
            <a:srgbClr val="006DB6"/>
          </a:solidFill>
          <a:ln w="12700">
            <a:solidFill>
              <a:srgbClr val="006DB6">
                <a:alpha val="0"/>
              </a:srgbClr>
            </a:solidFill>
            <a:prstDash val="solid"/>
          </a:ln>
        </p:spPr>
      </p:sp>
      <p:sp>
        <p:nvSpPr>
          <p:cNvPr id="6" name="Shape 4"/>
          <p:cNvSpPr/>
          <p:nvPr/>
        </p:nvSpPr>
        <p:spPr>
          <a:xfrm>
            <a:off x="746150" y="457200"/>
            <a:ext cx="82296" cy="82296"/>
          </a:xfrm>
          <a:prstGeom prst="roundRect">
            <a:avLst>
              <a:gd name="adj" fmla="val 16667"/>
            </a:avLst>
          </a:prstGeom>
          <a:solidFill>
            <a:srgbClr val="F67D4B"/>
          </a:solidFill>
          <a:ln w="12700">
            <a:solidFill>
              <a:srgbClr val="F67D4B">
                <a:alpha val="0"/>
              </a:srgbClr>
            </a:solidFill>
            <a:prstDash val="solid"/>
          </a:ln>
        </p:spPr>
      </p:sp>
      <p:sp>
        <p:nvSpPr>
          <p:cNvPr id="7" name="Shape 5"/>
          <p:cNvSpPr/>
          <p:nvPr/>
        </p:nvSpPr>
        <p:spPr>
          <a:xfrm>
            <a:off x="844906" y="457200"/>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548640" y="555955"/>
            <a:ext cx="82296" cy="82296"/>
          </a:xfrm>
          <a:prstGeom prst="roundRect">
            <a:avLst>
              <a:gd name="adj" fmla="val 16667"/>
            </a:avLst>
          </a:prstGeom>
          <a:solidFill>
            <a:srgbClr val="64748B"/>
          </a:solidFill>
          <a:ln w="12700">
            <a:solidFill>
              <a:srgbClr val="64748B">
                <a:alpha val="0"/>
              </a:srgbClr>
            </a:solidFill>
            <a:prstDash val="solid"/>
          </a:ln>
        </p:spPr>
      </p:sp>
      <p:sp>
        <p:nvSpPr>
          <p:cNvPr id="9" name="Shape 7"/>
          <p:cNvSpPr/>
          <p:nvPr/>
        </p:nvSpPr>
        <p:spPr>
          <a:xfrm>
            <a:off x="647395" y="555955"/>
            <a:ext cx="82296" cy="82296"/>
          </a:xfrm>
          <a:prstGeom prst="roundRect">
            <a:avLst>
              <a:gd name="adj" fmla="val 16667"/>
            </a:avLst>
          </a:prstGeom>
          <a:solidFill>
            <a:srgbClr val="1EAAC8"/>
          </a:solidFill>
          <a:ln w="12700">
            <a:solidFill>
              <a:srgbClr val="1EAAC8">
                <a:alpha val="0"/>
              </a:srgbClr>
            </a:solidFill>
            <a:prstDash val="solid"/>
          </a:ln>
        </p:spPr>
      </p:sp>
      <p:sp>
        <p:nvSpPr>
          <p:cNvPr id="10" name="Shape 8"/>
          <p:cNvSpPr/>
          <p:nvPr/>
        </p:nvSpPr>
        <p:spPr>
          <a:xfrm>
            <a:off x="746150" y="555955"/>
            <a:ext cx="82296" cy="82296"/>
          </a:xfrm>
          <a:prstGeom prst="roundRect">
            <a:avLst>
              <a:gd name="adj" fmla="val 16667"/>
            </a:avLst>
          </a:prstGeom>
          <a:solidFill>
            <a:srgbClr val="64748B"/>
          </a:solidFill>
          <a:ln w="12700">
            <a:solidFill>
              <a:srgbClr val="64748B">
                <a:alpha val="0"/>
              </a:srgbClr>
            </a:solidFill>
            <a:prstDash val="solid"/>
          </a:ln>
        </p:spPr>
      </p:sp>
      <p:sp>
        <p:nvSpPr>
          <p:cNvPr id="11" name="Shape 9"/>
          <p:cNvSpPr/>
          <p:nvPr/>
        </p:nvSpPr>
        <p:spPr>
          <a:xfrm>
            <a:off x="844906" y="555955"/>
            <a:ext cx="82296" cy="82296"/>
          </a:xfrm>
          <a:prstGeom prst="roundRect">
            <a:avLst>
              <a:gd name="adj" fmla="val 16667"/>
            </a:avLst>
          </a:prstGeom>
          <a:solidFill>
            <a:srgbClr val="1EAAC8"/>
          </a:solidFill>
          <a:ln w="12700">
            <a:solidFill>
              <a:srgbClr val="1EAAC8">
                <a:alpha val="0"/>
              </a:srgbClr>
            </a:solidFill>
            <a:prstDash val="solid"/>
          </a:ln>
        </p:spPr>
      </p:sp>
      <p:sp>
        <p:nvSpPr>
          <p:cNvPr id="12" name="Shape 10"/>
          <p:cNvSpPr/>
          <p:nvPr/>
        </p:nvSpPr>
        <p:spPr>
          <a:xfrm>
            <a:off x="548640" y="654710"/>
            <a:ext cx="82296" cy="82296"/>
          </a:xfrm>
          <a:prstGeom prst="roundRect">
            <a:avLst>
              <a:gd name="adj" fmla="val 16667"/>
            </a:avLst>
          </a:prstGeom>
          <a:solidFill>
            <a:srgbClr val="94A3AF"/>
          </a:solidFill>
          <a:ln w="12700">
            <a:solidFill>
              <a:srgbClr val="94A3AF">
                <a:alpha val="0"/>
              </a:srgbClr>
            </a:solidFill>
            <a:prstDash val="solid"/>
          </a:ln>
        </p:spPr>
      </p:sp>
      <p:sp>
        <p:nvSpPr>
          <p:cNvPr id="13" name="Shape 11"/>
          <p:cNvSpPr/>
          <p:nvPr/>
        </p:nvSpPr>
        <p:spPr>
          <a:xfrm>
            <a:off x="647395" y="654710"/>
            <a:ext cx="82296" cy="82296"/>
          </a:xfrm>
          <a:prstGeom prst="roundRect">
            <a:avLst>
              <a:gd name="adj" fmla="val 16667"/>
            </a:avLst>
          </a:prstGeom>
          <a:solidFill>
            <a:srgbClr val="006DB6"/>
          </a:solidFill>
          <a:ln w="12700">
            <a:solidFill>
              <a:srgbClr val="006DB6">
                <a:alpha val="0"/>
              </a:srgbClr>
            </a:solidFill>
            <a:prstDash val="solid"/>
          </a:ln>
        </p:spPr>
      </p:sp>
      <p:sp>
        <p:nvSpPr>
          <p:cNvPr id="14" name="Shape 12"/>
          <p:cNvSpPr/>
          <p:nvPr/>
        </p:nvSpPr>
        <p:spPr>
          <a:xfrm>
            <a:off x="746150" y="654710"/>
            <a:ext cx="82296" cy="82296"/>
          </a:xfrm>
          <a:prstGeom prst="roundRect">
            <a:avLst>
              <a:gd name="adj" fmla="val 16667"/>
            </a:avLst>
          </a:prstGeom>
          <a:solidFill>
            <a:srgbClr val="1EAAC8"/>
          </a:solidFill>
          <a:ln w="12700">
            <a:solidFill>
              <a:srgbClr val="1EAAC8">
                <a:alpha val="0"/>
              </a:srgbClr>
            </a:solidFill>
            <a:prstDash val="solid"/>
          </a:ln>
        </p:spPr>
      </p:sp>
      <p:sp>
        <p:nvSpPr>
          <p:cNvPr id="15" name="Shape 13"/>
          <p:cNvSpPr/>
          <p:nvPr/>
        </p:nvSpPr>
        <p:spPr>
          <a:xfrm>
            <a:off x="844906" y="654710"/>
            <a:ext cx="82296" cy="82296"/>
          </a:xfrm>
          <a:prstGeom prst="roundRect">
            <a:avLst>
              <a:gd name="adj" fmla="val 16667"/>
            </a:avLst>
          </a:prstGeom>
          <a:solidFill>
            <a:srgbClr val="64748B"/>
          </a:solidFill>
          <a:ln w="12700">
            <a:solidFill>
              <a:srgbClr val="64748B">
                <a:alpha val="0"/>
              </a:srgbClr>
            </a:solidFill>
            <a:prstDash val="solid"/>
          </a:ln>
        </p:spPr>
      </p:sp>
      <p:sp>
        <p:nvSpPr>
          <p:cNvPr id="16" name="Text 14"/>
          <p:cNvSpPr/>
          <p:nvPr/>
        </p:nvSpPr>
        <p:spPr>
          <a:xfrm>
            <a:off x="1035101" y="438912"/>
            <a:ext cx="16459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TECHNIJIAN</a:t>
            </a:r>
            <a:endParaRPr lang="en-US" sz="1700" dirty="0"/>
          </a:p>
        </p:txBody>
      </p:sp>
      <p:sp>
        <p:nvSpPr>
          <p:cNvPr id="17" name="Shape 15"/>
          <p:cNvSpPr/>
          <p:nvPr/>
        </p:nvSpPr>
        <p:spPr>
          <a:xfrm>
            <a:off x="548640" y="1188720"/>
            <a:ext cx="822960" cy="54864"/>
          </a:xfrm>
          <a:prstGeom prst="rect">
            <a:avLst/>
          </a:prstGeom>
          <a:solidFill>
            <a:srgbClr val="F67D4B"/>
          </a:solidFill>
          <a:ln w="12700">
            <a:solidFill>
              <a:srgbClr val="F67D4B">
                <a:alpha val="0"/>
              </a:srgbClr>
            </a:solidFill>
            <a:prstDash val="solid"/>
          </a:ln>
        </p:spPr>
      </p:sp>
      <p:sp>
        <p:nvSpPr>
          <p:cNvPr id="18" name="Text 16"/>
          <p:cNvSpPr/>
          <p:nvPr/>
        </p:nvSpPr>
        <p:spPr>
          <a:xfrm>
            <a:off x="548640" y="1371600"/>
            <a:ext cx="68580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AFFG IT Compliance Strategy</a:t>
            </a:r>
            <a:endParaRPr lang="en-US" sz="3000" dirty="0"/>
          </a:p>
        </p:txBody>
      </p:sp>
      <p:sp>
        <p:nvSpPr>
          <p:cNvPr id="19" name="Text 17"/>
          <p:cNvSpPr/>
          <p:nvPr/>
        </p:nvSpPr>
        <p:spPr>
          <a:xfrm>
            <a:off x="548640" y="1920240"/>
            <a:ext cx="685800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Revised Proposal Review</a:t>
            </a:r>
            <a:endParaRPr lang="en-US" sz="3200" dirty="0"/>
          </a:p>
        </p:txBody>
      </p:sp>
      <p:sp>
        <p:nvSpPr>
          <p:cNvPr id="20" name="Text 18"/>
          <p:cNvSpPr/>
          <p:nvPr/>
        </p:nvSpPr>
        <p:spPr>
          <a:xfrm>
            <a:off x="548640" y="2606040"/>
            <a:ext cx="6766560" cy="365760"/>
          </a:xfrm>
          <a:prstGeom prst="rect">
            <a:avLst/>
          </a:prstGeom>
          <a:noFill/>
          <a:ln/>
        </p:spPr>
        <p:txBody>
          <a:bodyPr wrap="square" lIns="0" tIns="0" rIns="0" bIns="0" rtlCol="0" anchor="ctr"/>
          <a:lstStyle/>
          <a:p>
            <a:pPr indent="0" marL="0">
              <a:buNone/>
            </a:pPr>
            <a:r>
              <a:rPr lang="en-US" sz="1300" dirty="0">
                <a:solidFill>
                  <a:srgbClr val="DCE5F2"/>
                </a:solidFill>
                <a:latin typeface="Arial" pitchFamily="34" charset="0"/>
                <a:ea typeface="Arial" pitchFamily="34" charset="-122"/>
                <a:cs typeface="Arial" pitchFamily="34" charset="-120"/>
              </a:rPr>
              <a:t>Each design choice mapped to the specific FINRA and SEC requirement it satisfies</a:t>
            </a:r>
            <a:endParaRPr lang="en-US" sz="1300" dirty="0"/>
          </a:p>
        </p:txBody>
      </p:sp>
      <p:sp>
        <p:nvSpPr>
          <p:cNvPr id="21" name="Shape 19"/>
          <p:cNvSpPr/>
          <p:nvPr/>
        </p:nvSpPr>
        <p:spPr>
          <a:xfrm>
            <a:off x="7498080" y="1371600"/>
            <a:ext cx="4114800" cy="2560320"/>
          </a:xfrm>
          <a:prstGeom prst="roundRect">
            <a:avLst>
              <a:gd name="adj" fmla="val 2857"/>
            </a:avLst>
          </a:prstGeom>
          <a:solidFill>
            <a:srgbClr val="202842"/>
          </a:solidFill>
          <a:ln w="12700">
            <a:solidFill>
              <a:srgbClr val="36435E"/>
            </a:solidFill>
            <a:prstDash val="solid"/>
          </a:ln>
        </p:spPr>
      </p:sp>
      <p:sp>
        <p:nvSpPr>
          <p:cNvPr id="22" name="Text 20"/>
          <p:cNvSpPr/>
          <p:nvPr/>
        </p:nvSpPr>
        <p:spPr>
          <a:xfrm>
            <a:off x="7726680" y="1572768"/>
            <a:ext cx="2743200" cy="256032"/>
          </a:xfrm>
          <a:prstGeom prst="rect">
            <a:avLst/>
          </a:prstGeom>
          <a:noFill/>
          <a:ln/>
        </p:spPr>
        <p:txBody>
          <a:bodyPr wrap="square" lIns="0" tIns="0" rIns="0" bIns="0" rtlCol="0" anchor="ctr"/>
          <a:lstStyle/>
          <a:p>
            <a:pPr indent="0" marL="0">
              <a:buNone/>
            </a:pPr>
            <a:r>
              <a:rPr lang="en-US" sz="1100" b="1" dirty="0">
                <a:solidFill>
                  <a:srgbClr val="F67D4B"/>
                </a:solidFill>
                <a:latin typeface="Arial" pitchFamily="34" charset="0"/>
                <a:ea typeface="Arial" pitchFamily="34" charset="-122"/>
                <a:cs typeface="Arial" pitchFamily="34" charset="-120"/>
              </a:rPr>
              <a:t>Regulatory Scope</a:t>
            </a:r>
            <a:endParaRPr lang="en-US" sz="1100" dirty="0"/>
          </a:p>
        </p:txBody>
      </p:sp>
      <p:sp>
        <p:nvSpPr>
          <p:cNvPr id="23" name="Shape 21"/>
          <p:cNvSpPr/>
          <p:nvPr/>
        </p:nvSpPr>
        <p:spPr>
          <a:xfrm>
            <a:off x="7726680" y="1993392"/>
            <a:ext cx="109728" cy="109728"/>
          </a:xfrm>
          <a:prstGeom prst="ellipse">
            <a:avLst/>
          </a:prstGeom>
          <a:solidFill>
            <a:srgbClr val="1EAAC8"/>
          </a:solidFill>
          <a:ln w="12700">
            <a:solidFill>
              <a:srgbClr val="1EAAC8">
                <a:alpha val="0"/>
              </a:srgbClr>
            </a:solidFill>
            <a:prstDash val="solid"/>
          </a:ln>
        </p:spPr>
      </p:sp>
      <p:sp>
        <p:nvSpPr>
          <p:cNvPr id="24" name="Text 22"/>
          <p:cNvSpPr/>
          <p:nvPr/>
        </p:nvSpPr>
        <p:spPr>
          <a:xfrm>
            <a:off x="7927848" y="1920240"/>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SEC Regulation S-P §248.30 (Safeguards Rule)</a:t>
            </a:r>
            <a:endParaRPr lang="en-US" sz="1200" dirty="0"/>
          </a:p>
        </p:txBody>
      </p:sp>
      <p:sp>
        <p:nvSpPr>
          <p:cNvPr id="25" name="Shape 23"/>
          <p:cNvSpPr/>
          <p:nvPr/>
        </p:nvSpPr>
        <p:spPr>
          <a:xfrm>
            <a:off x="7726680" y="2340864"/>
            <a:ext cx="109728" cy="109728"/>
          </a:xfrm>
          <a:prstGeom prst="ellipse">
            <a:avLst/>
          </a:prstGeom>
          <a:solidFill>
            <a:srgbClr val="1EAAC8"/>
          </a:solidFill>
          <a:ln w="12700">
            <a:solidFill>
              <a:srgbClr val="1EAAC8">
                <a:alpha val="0"/>
              </a:srgbClr>
            </a:solidFill>
            <a:prstDash val="solid"/>
          </a:ln>
        </p:spPr>
      </p:sp>
      <p:sp>
        <p:nvSpPr>
          <p:cNvPr id="26" name="Text 24"/>
          <p:cNvSpPr/>
          <p:nvPr/>
        </p:nvSpPr>
        <p:spPr>
          <a:xfrm>
            <a:off x="7927848" y="2267712"/>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FINRA Rule 3110 (Supervision)</a:t>
            </a:r>
            <a:endParaRPr lang="en-US" sz="1200" dirty="0"/>
          </a:p>
        </p:txBody>
      </p:sp>
      <p:sp>
        <p:nvSpPr>
          <p:cNvPr id="27" name="Shape 25"/>
          <p:cNvSpPr/>
          <p:nvPr/>
        </p:nvSpPr>
        <p:spPr>
          <a:xfrm>
            <a:off x="7726680" y="2688336"/>
            <a:ext cx="109728" cy="109728"/>
          </a:xfrm>
          <a:prstGeom prst="ellipse">
            <a:avLst/>
          </a:prstGeom>
          <a:solidFill>
            <a:srgbClr val="1EAAC8"/>
          </a:solidFill>
          <a:ln w="12700">
            <a:solidFill>
              <a:srgbClr val="1EAAC8">
                <a:alpha val="0"/>
              </a:srgbClr>
            </a:solidFill>
            <a:prstDash val="solid"/>
          </a:ln>
        </p:spPr>
      </p:sp>
      <p:sp>
        <p:nvSpPr>
          <p:cNvPr id="28" name="Text 26"/>
          <p:cNvSpPr/>
          <p:nvPr/>
        </p:nvSpPr>
        <p:spPr>
          <a:xfrm>
            <a:off x="7927848" y="2615184"/>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SEC Rule 17a-4 (Records Retention)</a:t>
            </a:r>
            <a:endParaRPr lang="en-US" sz="1200" dirty="0"/>
          </a:p>
        </p:txBody>
      </p:sp>
      <p:sp>
        <p:nvSpPr>
          <p:cNvPr id="29" name="Shape 27"/>
          <p:cNvSpPr/>
          <p:nvPr/>
        </p:nvSpPr>
        <p:spPr>
          <a:xfrm>
            <a:off x="7726680" y="3035808"/>
            <a:ext cx="109728" cy="109728"/>
          </a:xfrm>
          <a:prstGeom prst="ellipse">
            <a:avLst/>
          </a:prstGeom>
          <a:solidFill>
            <a:srgbClr val="1EAAC8"/>
          </a:solidFill>
          <a:ln w="12700">
            <a:solidFill>
              <a:srgbClr val="1EAAC8">
                <a:alpha val="0"/>
              </a:srgbClr>
            </a:solidFill>
            <a:prstDash val="solid"/>
          </a:ln>
        </p:spPr>
      </p:sp>
      <p:sp>
        <p:nvSpPr>
          <p:cNvPr id="30" name="Text 28"/>
          <p:cNvSpPr/>
          <p:nvPr/>
        </p:nvSpPr>
        <p:spPr>
          <a:xfrm>
            <a:off x="7927848" y="2962656"/>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FINRA Rule 4511 (Books and Records)</a:t>
            </a:r>
            <a:endParaRPr lang="en-US" sz="1200" dirty="0"/>
          </a:p>
        </p:txBody>
      </p:sp>
      <p:sp>
        <p:nvSpPr>
          <p:cNvPr id="31" name="Shape 29"/>
          <p:cNvSpPr/>
          <p:nvPr/>
        </p:nvSpPr>
        <p:spPr>
          <a:xfrm>
            <a:off x="7726680" y="3383280"/>
            <a:ext cx="109728" cy="109728"/>
          </a:xfrm>
          <a:prstGeom prst="ellipse">
            <a:avLst/>
          </a:prstGeom>
          <a:solidFill>
            <a:srgbClr val="1EAAC8"/>
          </a:solidFill>
          <a:ln w="12700">
            <a:solidFill>
              <a:srgbClr val="1EAAC8">
                <a:alpha val="0"/>
              </a:srgbClr>
            </a:solidFill>
            <a:prstDash val="solid"/>
          </a:ln>
        </p:spPr>
      </p:sp>
      <p:sp>
        <p:nvSpPr>
          <p:cNvPr id="32" name="Text 30"/>
          <p:cNvSpPr/>
          <p:nvPr/>
        </p:nvSpPr>
        <p:spPr>
          <a:xfrm>
            <a:off x="7927848" y="3310128"/>
            <a:ext cx="3657600" cy="3200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SEC Cybersecurity Risk Mgmt Rules (2023)</a:t>
            </a:r>
            <a:endParaRPr lang="en-US" sz="1200" dirty="0"/>
          </a:p>
        </p:txBody>
      </p:sp>
      <p:sp>
        <p:nvSpPr>
          <p:cNvPr id="33" name="Text 31"/>
          <p:cNvSpPr/>
          <p:nvPr/>
        </p:nvSpPr>
        <p:spPr>
          <a:xfrm>
            <a:off x="548640" y="5897880"/>
            <a:ext cx="4023360" cy="182880"/>
          </a:xfrm>
          <a:prstGeom prst="rect">
            <a:avLst/>
          </a:prstGeom>
          <a:noFill/>
          <a:ln/>
        </p:spPr>
        <p:txBody>
          <a:bodyPr wrap="square" lIns="0" tIns="0" rIns="0" bIns="0" rtlCol="0" anchor="ctr"/>
          <a:lstStyle/>
          <a:p>
            <a:pPr indent="0" marL="0">
              <a:buNone/>
            </a:pPr>
            <a:r>
              <a:rPr lang="en-US" sz="1000" dirty="0">
                <a:solidFill>
                  <a:srgbClr val="BFD0E5"/>
                </a:solidFill>
                <a:latin typeface="Arial" pitchFamily="34" charset="0"/>
                <a:ea typeface="Arial" pitchFamily="34" charset="-122"/>
                <a:cs typeface="Arial" pitchFamily="34" charset="-120"/>
              </a:rPr>
              <a:t>Prepared for AFFG  |  April 15,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EXECUTIVE SUMMARY</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Policy Alone Is Not A Control - Examiners Require Technical Enforcement</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Every item in this design closes a gap that a stated policy cannot close on its own.</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2</a:t>
            </a:r>
            <a:endParaRPr lang="en-US" sz="1000" dirty="0"/>
          </a:p>
        </p:txBody>
      </p:sp>
      <p:sp>
        <p:nvSpPr>
          <p:cNvPr id="23" name="Shape 21"/>
          <p:cNvSpPr/>
          <p:nvPr/>
        </p:nvSpPr>
        <p:spPr>
          <a:xfrm>
            <a:off x="594360" y="2103120"/>
            <a:ext cx="3657600" cy="3977640"/>
          </a:xfrm>
          <a:prstGeom prst="roundRect">
            <a:avLst>
              <a:gd name="adj" fmla="val 2000"/>
            </a:avLst>
          </a:prstGeom>
          <a:solidFill>
            <a:srgbClr val="FFFFFF"/>
          </a:solidFill>
          <a:ln w="12700">
            <a:solidFill>
              <a:srgbClr val="D8E0EA"/>
            </a:solidFill>
            <a:prstDash val="solid"/>
          </a:ln>
        </p:spPr>
      </p:sp>
      <p:sp>
        <p:nvSpPr>
          <p:cNvPr id="24" name="Shape 22"/>
          <p:cNvSpPr/>
          <p:nvPr/>
        </p:nvSpPr>
        <p:spPr>
          <a:xfrm>
            <a:off x="594360" y="2103120"/>
            <a:ext cx="3657600" cy="91440"/>
          </a:xfrm>
          <a:prstGeom prst="rect">
            <a:avLst/>
          </a:prstGeom>
          <a:solidFill>
            <a:srgbClr val="B42318"/>
          </a:solidFill>
          <a:ln w="12700">
            <a:solidFill>
              <a:srgbClr val="B42318">
                <a:alpha val="0"/>
              </a:srgbClr>
            </a:solidFill>
            <a:prstDash val="solid"/>
          </a:ln>
        </p:spPr>
      </p:sp>
      <p:sp>
        <p:nvSpPr>
          <p:cNvPr id="25" name="Text 23"/>
          <p:cNvSpPr/>
          <p:nvPr/>
        </p:nvSpPr>
        <p:spPr>
          <a:xfrm>
            <a:off x="758952" y="2286000"/>
            <a:ext cx="3328416" cy="201168"/>
          </a:xfrm>
          <a:prstGeom prst="rect">
            <a:avLst/>
          </a:prstGeom>
          <a:noFill/>
          <a:ln/>
        </p:spPr>
        <p:txBody>
          <a:bodyPr wrap="square" lIns="0" tIns="0" rIns="0" bIns="0" rtlCol="0" anchor="ctr"/>
          <a:lstStyle/>
          <a:p>
            <a:pPr indent="0" marL="0">
              <a:buNone/>
            </a:pPr>
            <a:r>
              <a:rPr lang="en-US" sz="900" b="1" dirty="0">
                <a:solidFill>
                  <a:srgbClr val="B42318"/>
                </a:solidFill>
                <a:latin typeface="Arial" pitchFamily="34" charset="0"/>
                <a:ea typeface="Arial" pitchFamily="34" charset="-122"/>
                <a:cs typeface="Arial" pitchFamily="34" charset="-120"/>
              </a:rPr>
              <a:t>THE RISK</a:t>
            </a:r>
            <a:endParaRPr lang="en-US" sz="900" dirty="0"/>
          </a:p>
        </p:txBody>
      </p:sp>
      <p:sp>
        <p:nvSpPr>
          <p:cNvPr id="26" name="Text 24"/>
          <p:cNvSpPr/>
          <p:nvPr/>
        </p:nvSpPr>
        <p:spPr>
          <a:xfrm>
            <a:off x="758952"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Unenforced Policy</a:t>
            </a:r>
            <a:endParaRPr lang="en-US" sz="1600" dirty="0"/>
          </a:p>
        </p:txBody>
      </p:sp>
      <p:sp>
        <p:nvSpPr>
          <p:cNvPr id="27" name="Text 25"/>
          <p:cNvSpPr/>
          <p:nvPr/>
        </p:nvSpPr>
        <p:spPr>
          <a:xfrm>
            <a:off x="758952" y="2889504"/>
            <a:ext cx="3328416" cy="30540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don't store client data on personal devices" is a policy statement. Without technical controls preventing download to C:, copy to USB, or login to OneDrive from a home PC, an examiner sees intent, not enforcement.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SEC exam letters in 2024 have cited firms whose written policies were not backed by technical safeguards.</a:t>
            </a:r>
            <a:endParaRPr lang="en-US" sz="1050" dirty="0"/>
          </a:p>
        </p:txBody>
      </p:sp>
      <p:sp>
        <p:nvSpPr>
          <p:cNvPr id="28" name="Shape 26"/>
          <p:cNvSpPr/>
          <p:nvPr/>
        </p:nvSpPr>
        <p:spPr>
          <a:xfrm>
            <a:off x="4416552" y="2103120"/>
            <a:ext cx="3657600" cy="3977640"/>
          </a:xfrm>
          <a:prstGeom prst="roundRect">
            <a:avLst>
              <a:gd name="adj" fmla="val 2000"/>
            </a:avLst>
          </a:prstGeom>
          <a:solidFill>
            <a:srgbClr val="FFFFFF"/>
          </a:solidFill>
          <a:ln w="12700">
            <a:solidFill>
              <a:srgbClr val="D8E0EA"/>
            </a:solidFill>
            <a:prstDash val="solid"/>
          </a:ln>
        </p:spPr>
      </p:sp>
      <p:sp>
        <p:nvSpPr>
          <p:cNvPr id="29" name="Shape 27"/>
          <p:cNvSpPr/>
          <p:nvPr/>
        </p:nvSpPr>
        <p:spPr>
          <a:xfrm>
            <a:off x="4416552" y="2103120"/>
            <a:ext cx="3657600" cy="91440"/>
          </a:xfrm>
          <a:prstGeom prst="rect">
            <a:avLst/>
          </a:prstGeom>
          <a:solidFill>
            <a:srgbClr val="006DB6"/>
          </a:solidFill>
          <a:ln w="12700">
            <a:solidFill>
              <a:srgbClr val="006DB6">
                <a:alpha val="0"/>
              </a:srgbClr>
            </a:solidFill>
            <a:prstDash val="solid"/>
          </a:ln>
        </p:spPr>
      </p:sp>
      <p:sp>
        <p:nvSpPr>
          <p:cNvPr id="30" name="Text 28"/>
          <p:cNvSpPr/>
          <p:nvPr/>
        </p:nvSpPr>
        <p:spPr>
          <a:xfrm>
            <a:off x="4581144" y="2286000"/>
            <a:ext cx="33284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THE REQUIREMENT</a:t>
            </a:r>
            <a:endParaRPr lang="en-US" sz="900" dirty="0"/>
          </a:p>
        </p:txBody>
      </p:sp>
      <p:sp>
        <p:nvSpPr>
          <p:cNvPr id="31" name="Text 29"/>
          <p:cNvSpPr/>
          <p:nvPr/>
        </p:nvSpPr>
        <p:spPr>
          <a:xfrm>
            <a:off x="4581144"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Reg S-P Safeguards</a:t>
            </a:r>
            <a:endParaRPr lang="en-US" sz="1600" dirty="0"/>
          </a:p>
        </p:txBody>
      </p:sp>
      <p:sp>
        <p:nvSpPr>
          <p:cNvPr id="32" name="Text 30"/>
          <p:cNvSpPr/>
          <p:nvPr/>
        </p:nvSpPr>
        <p:spPr>
          <a:xfrm>
            <a:off x="4581144" y="2889504"/>
            <a:ext cx="3328416" cy="30540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SEC Regulation S-P §248.30(a) requires registered investment advisers and broker-dealers to adopt written policies AND reasonably designed administrative, technical, and physical safeguards for customer records.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The 2024 amendments added explicit incident response and 30-day notification obligations.</a:t>
            </a:r>
            <a:endParaRPr lang="en-US" sz="1050" dirty="0"/>
          </a:p>
        </p:txBody>
      </p:sp>
      <p:sp>
        <p:nvSpPr>
          <p:cNvPr id="33" name="Shape 31"/>
          <p:cNvSpPr/>
          <p:nvPr/>
        </p:nvSpPr>
        <p:spPr>
          <a:xfrm>
            <a:off x="8238744" y="2103120"/>
            <a:ext cx="3337560" cy="3977640"/>
          </a:xfrm>
          <a:prstGeom prst="roundRect">
            <a:avLst>
              <a:gd name="adj" fmla="val 2192"/>
            </a:avLst>
          </a:prstGeom>
          <a:solidFill>
            <a:srgbClr val="FFFFFF"/>
          </a:solidFill>
          <a:ln w="12700">
            <a:solidFill>
              <a:srgbClr val="D8E0EA"/>
            </a:solidFill>
            <a:prstDash val="solid"/>
          </a:ln>
        </p:spPr>
      </p:sp>
      <p:sp>
        <p:nvSpPr>
          <p:cNvPr id="34" name="Shape 32"/>
          <p:cNvSpPr/>
          <p:nvPr/>
        </p:nvSpPr>
        <p:spPr>
          <a:xfrm>
            <a:off x="8238744" y="2103120"/>
            <a:ext cx="3337560" cy="91440"/>
          </a:xfrm>
          <a:prstGeom prst="rect">
            <a:avLst/>
          </a:prstGeom>
          <a:solidFill>
            <a:srgbClr val="F67D4B"/>
          </a:solidFill>
          <a:ln w="12700">
            <a:solidFill>
              <a:srgbClr val="F67D4B">
                <a:alpha val="0"/>
              </a:srgbClr>
            </a:solidFill>
            <a:prstDash val="solid"/>
          </a:ln>
        </p:spPr>
      </p:sp>
      <p:sp>
        <p:nvSpPr>
          <p:cNvPr id="35" name="Text 33"/>
          <p:cNvSpPr/>
          <p:nvPr/>
        </p:nvSpPr>
        <p:spPr>
          <a:xfrm>
            <a:off x="8403336" y="2286000"/>
            <a:ext cx="300837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THE DESIGN</a:t>
            </a:r>
            <a:endParaRPr lang="en-US" sz="900" dirty="0"/>
          </a:p>
        </p:txBody>
      </p:sp>
      <p:sp>
        <p:nvSpPr>
          <p:cNvPr id="36" name="Text 34"/>
          <p:cNvSpPr/>
          <p:nvPr/>
        </p:nvSpPr>
        <p:spPr>
          <a:xfrm>
            <a:off x="8403336" y="2505456"/>
            <a:ext cx="300837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Layered Enforcement</a:t>
            </a:r>
            <a:endParaRPr lang="en-US" sz="1600" dirty="0"/>
          </a:p>
        </p:txBody>
      </p:sp>
      <p:sp>
        <p:nvSpPr>
          <p:cNvPr id="37" name="Text 35"/>
          <p:cNvSpPr/>
          <p:nvPr/>
        </p:nvSpPr>
        <p:spPr>
          <a:xfrm>
            <a:off x="8403336" y="2889504"/>
            <a:ext cx="3008376" cy="30540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revised proposal layers Technijian services: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Horizon VDI (7 roles)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MyAudit endpoint DLP</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SSO/2FA gateway</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IP whitelist + managed-endpoint access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Veeam tenant backup</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Technijian monthly assessment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Each layer closes a specific, cite-able gap.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REGULATORY FRAMEWORK</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Rules That Drive Each Control In This Design</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These are the specific citations referenced when mapping every component of the solution.</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3</a:t>
            </a:r>
            <a:endParaRPr lang="en-US" sz="1000" dirty="0"/>
          </a:p>
        </p:txBody>
      </p:sp>
      <p:sp>
        <p:nvSpPr>
          <p:cNvPr id="23" name="Shape 21"/>
          <p:cNvSpPr/>
          <p:nvPr/>
        </p:nvSpPr>
        <p:spPr>
          <a:xfrm>
            <a:off x="548640" y="2057400"/>
            <a:ext cx="11064240" cy="347472"/>
          </a:xfrm>
          <a:prstGeom prst="roundRect">
            <a:avLst>
              <a:gd name="adj" fmla="val 7895"/>
            </a:avLst>
          </a:prstGeom>
          <a:solidFill>
            <a:srgbClr val="1A1A2E"/>
          </a:solidFill>
          <a:ln w="12700">
            <a:solidFill>
              <a:srgbClr val="1A1A2E">
                <a:alpha val="0"/>
              </a:srgbClr>
            </a:solidFill>
            <a:prstDash val="solid"/>
          </a:ln>
        </p:spPr>
      </p:sp>
      <p:sp>
        <p:nvSpPr>
          <p:cNvPr id="24" name="Text 22"/>
          <p:cNvSpPr/>
          <p:nvPr/>
        </p:nvSpPr>
        <p:spPr>
          <a:xfrm>
            <a:off x="621792" y="2130552"/>
            <a:ext cx="16824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Citation</a:t>
            </a:r>
            <a:endParaRPr lang="en-US" sz="900" dirty="0"/>
          </a:p>
        </p:txBody>
      </p:sp>
      <p:sp>
        <p:nvSpPr>
          <p:cNvPr id="25" name="Text 23"/>
          <p:cNvSpPr/>
          <p:nvPr/>
        </p:nvSpPr>
        <p:spPr>
          <a:xfrm>
            <a:off x="2450592" y="2130552"/>
            <a:ext cx="387705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What It Requires</a:t>
            </a:r>
            <a:endParaRPr lang="en-US" sz="900" dirty="0"/>
          </a:p>
        </p:txBody>
      </p:sp>
      <p:sp>
        <p:nvSpPr>
          <p:cNvPr id="26" name="Text 24"/>
          <p:cNvSpPr/>
          <p:nvPr/>
        </p:nvSpPr>
        <p:spPr>
          <a:xfrm>
            <a:off x="6473952" y="2130552"/>
            <a:ext cx="506577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How This Design Satisfies It</a:t>
            </a:r>
            <a:endParaRPr lang="en-US" sz="900" dirty="0"/>
          </a:p>
        </p:txBody>
      </p:sp>
      <p:sp>
        <p:nvSpPr>
          <p:cNvPr id="27" name="Shape 25"/>
          <p:cNvSpPr/>
          <p:nvPr/>
        </p:nvSpPr>
        <p:spPr>
          <a:xfrm>
            <a:off x="548640" y="2423160"/>
            <a:ext cx="11064240" cy="530352"/>
          </a:xfrm>
          <a:prstGeom prst="rect">
            <a:avLst/>
          </a:prstGeom>
          <a:solidFill>
            <a:srgbClr val="FFFFFF"/>
          </a:solidFill>
          <a:ln w="12700">
            <a:solidFill>
              <a:srgbClr val="D8E0EA"/>
            </a:solidFill>
            <a:prstDash val="solid"/>
          </a:ln>
        </p:spPr>
      </p:sp>
      <p:sp>
        <p:nvSpPr>
          <p:cNvPr id="28" name="Text 26"/>
          <p:cNvSpPr/>
          <p:nvPr/>
        </p:nvSpPr>
        <p:spPr>
          <a:xfrm>
            <a:off x="621792" y="250545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Reg S-P §248.30(a)</a:t>
            </a:r>
            <a:endParaRPr lang="en-US" sz="950" dirty="0"/>
          </a:p>
        </p:txBody>
      </p:sp>
      <p:sp>
        <p:nvSpPr>
          <p:cNvPr id="29" name="Text 27"/>
          <p:cNvSpPr/>
          <p:nvPr/>
        </p:nvSpPr>
        <p:spPr>
          <a:xfrm>
            <a:off x="2450592" y="250545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Written policies AND administrative, technical, and physical safeguards to protect customer info.</a:t>
            </a:r>
            <a:endParaRPr lang="en-US" sz="950" dirty="0"/>
          </a:p>
        </p:txBody>
      </p:sp>
      <p:sp>
        <p:nvSpPr>
          <p:cNvPr id="30" name="Text 28"/>
          <p:cNvSpPr/>
          <p:nvPr/>
        </p:nvSpPr>
        <p:spPr>
          <a:xfrm>
            <a:off x="6473952" y="250545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Technijian Horizon VDI, MyAudit DLP, IP whitelist, and SSO/2FA provide the technical safeguards behind the WSP.</a:t>
            </a:r>
            <a:endParaRPr lang="en-US" sz="950" dirty="0"/>
          </a:p>
        </p:txBody>
      </p:sp>
      <p:sp>
        <p:nvSpPr>
          <p:cNvPr id="31" name="Shape 29"/>
          <p:cNvSpPr/>
          <p:nvPr/>
        </p:nvSpPr>
        <p:spPr>
          <a:xfrm>
            <a:off x="548640" y="2971800"/>
            <a:ext cx="11064240" cy="530352"/>
          </a:xfrm>
          <a:prstGeom prst="rect">
            <a:avLst/>
          </a:prstGeom>
          <a:solidFill>
            <a:srgbClr val="EEF2F7"/>
          </a:solidFill>
          <a:ln w="12700">
            <a:solidFill>
              <a:srgbClr val="D8E0EA"/>
            </a:solidFill>
            <a:prstDash val="solid"/>
          </a:ln>
        </p:spPr>
      </p:sp>
      <p:sp>
        <p:nvSpPr>
          <p:cNvPr id="32" name="Text 30"/>
          <p:cNvSpPr/>
          <p:nvPr/>
        </p:nvSpPr>
        <p:spPr>
          <a:xfrm>
            <a:off x="621792" y="305409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Reg S-P (2024 amend.)</a:t>
            </a:r>
            <a:endParaRPr lang="en-US" sz="950" dirty="0"/>
          </a:p>
        </p:txBody>
      </p:sp>
      <p:sp>
        <p:nvSpPr>
          <p:cNvPr id="33" name="Text 31"/>
          <p:cNvSpPr/>
          <p:nvPr/>
        </p:nvSpPr>
        <p:spPr>
          <a:xfrm>
            <a:off x="2450592" y="305409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Incident response program, 30-day customer notification, vendor oversight, annual review.</a:t>
            </a:r>
            <a:endParaRPr lang="en-US" sz="950" dirty="0"/>
          </a:p>
        </p:txBody>
      </p:sp>
      <p:sp>
        <p:nvSpPr>
          <p:cNvPr id="34" name="Text 32"/>
          <p:cNvSpPr/>
          <p:nvPr/>
        </p:nvSpPr>
        <p:spPr>
          <a:xfrm>
            <a:off x="6473952" y="305409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Monthly drift assessments and Veeam recovery support detection, response, and recoverability.</a:t>
            </a:r>
            <a:endParaRPr lang="en-US" sz="950" dirty="0"/>
          </a:p>
        </p:txBody>
      </p:sp>
      <p:sp>
        <p:nvSpPr>
          <p:cNvPr id="35" name="Shape 33"/>
          <p:cNvSpPr/>
          <p:nvPr/>
        </p:nvSpPr>
        <p:spPr>
          <a:xfrm>
            <a:off x="548640" y="3520440"/>
            <a:ext cx="11064240" cy="530352"/>
          </a:xfrm>
          <a:prstGeom prst="rect">
            <a:avLst/>
          </a:prstGeom>
          <a:solidFill>
            <a:srgbClr val="FFFFFF"/>
          </a:solidFill>
          <a:ln w="12700">
            <a:solidFill>
              <a:srgbClr val="D8E0EA"/>
            </a:solidFill>
            <a:prstDash val="solid"/>
          </a:ln>
        </p:spPr>
      </p:sp>
      <p:sp>
        <p:nvSpPr>
          <p:cNvPr id="36" name="Text 34"/>
          <p:cNvSpPr/>
          <p:nvPr/>
        </p:nvSpPr>
        <p:spPr>
          <a:xfrm>
            <a:off x="621792" y="360273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FINRA 3110(a)</a:t>
            </a:r>
            <a:endParaRPr lang="en-US" sz="950" dirty="0"/>
          </a:p>
        </p:txBody>
      </p:sp>
      <p:sp>
        <p:nvSpPr>
          <p:cNvPr id="37" name="Text 35"/>
          <p:cNvSpPr/>
          <p:nvPr/>
        </p:nvSpPr>
        <p:spPr>
          <a:xfrm>
            <a:off x="2450592" y="360273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Supervisory system reasonably designed to achieve compliance with securities laws.</a:t>
            </a:r>
            <a:endParaRPr lang="en-US" sz="950" dirty="0"/>
          </a:p>
        </p:txBody>
      </p:sp>
      <p:sp>
        <p:nvSpPr>
          <p:cNvPr id="38" name="Text 36"/>
          <p:cNvSpPr/>
          <p:nvPr/>
        </p:nvSpPr>
        <p:spPr>
          <a:xfrm>
            <a:off x="6473952" y="360273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Isolated managed workspace creates a supervisable boundary for regulated activity.</a:t>
            </a:r>
            <a:endParaRPr lang="en-US" sz="950" dirty="0"/>
          </a:p>
        </p:txBody>
      </p:sp>
      <p:sp>
        <p:nvSpPr>
          <p:cNvPr id="39" name="Shape 37"/>
          <p:cNvSpPr/>
          <p:nvPr/>
        </p:nvSpPr>
        <p:spPr>
          <a:xfrm>
            <a:off x="548640" y="4069080"/>
            <a:ext cx="11064240" cy="530352"/>
          </a:xfrm>
          <a:prstGeom prst="rect">
            <a:avLst/>
          </a:prstGeom>
          <a:solidFill>
            <a:srgbClr val="EEF2F7"/>
          </a:solidFill>
          <a:ln w="12700">
            <a:solidFill>
              <a:srgbClr val="D8E0EA"/>
            </a:solidFill>
            <a:prstDash val="solid"/>
          </a:ln>
        </p:spPr>
      </p:sp>
      <p:sp>
        <p:nvSpPr>
          <p:cNvPr id="40" name="Text 38"/>
          <p:cNvSpPr/>
          <p:nvPr/>
        </p:nvSpPr>
        <p:spPr>
          <a:xfrm>
            <a:off x="621792" y="415137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FINRA 3110(c)</a:t>
            </a:r>
            <a:endParaRPr lang="en-US" sz="950" dirty="0"/>
          </a:p>
        </p:txBody>
      </p:sp>
      <p:sp>
        <p:nvSpPr>
          <p:cNvPr id="41" name="Text 39"/>
          <p:cNvSpPr/>
          <p:nvPr/>
        </p:nvSpPr>
        <p:spPr>
          <a:xfrm>
            <a:off x="2450592" y="415137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Internal inspections of offices and supervisory activity on a documented cadence.</a:t>
            </a:r>
            <a:endParaRPr lang="en-US" sz="950" dirty="0"/>
          </a:p>
        </p:txBody>
      </p:sp>
      <p:sp>
        <p:nvSpPr>
          <p:cNvPr id="42" name="Text 40"/>
          <p:cNvSpPr/>
          <p:nvPr/>
        </p:nvSpPr>
        <p:spPr>
          <a:xfrm>
            <a:off x="6473952" y="415137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Monthly site and M365 tenant assessments produce the books-and-records inspection evidence.</a:t>
            </a:r>
            <a:endParaRPr lang="en-US" sz="950" dirty="0"/>
          </a:p>
        </p:txBody>
      </p:sp>
      <p:sp>
        <p:nvSpPr>
          <p:cNvPr id="43" name="Shape 41"/>
          <p:cNvSpPr/>
          <p:nvPr/>
        </p:nvSpPr>
        <p:spPr>
          <a:xfrm>
            <a:off x="548640" y="4617720"/>
            <a:ext cx="11064240" cy="530352"/>
          </a:xfrm>
          <a:prstGeom prst="rect">
            <a:avLst/>
          </a:prstGeom>
          <a:solidFill>
            <a:srgbClr val="FFFFFF"/>
          </a:solidFill>
          <a:ln w="12700">
            <a:solidFill>
              <a:srgbClr val="D8E0EA"/>
            </a:solidFill>
            <a:prstDash val="solid"/>
          </a:ln>
        </p:spPr>
      </p:sp>
      <p:sp>
        <p:nvSpPr>
          <p:cNvPr id="44" name="Text 42"/>
          <p:cNvSpPr/>
          <p:nvPr/>
        </p:nvSpPr>
        <p:spPr>
          <a:xfrm>
            <a:off x="621792" y="470001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SEC Rule 17a-4(b),(f)</a:t>
            </a:r>
            <a:endParaRPr lang="en-US" sz="950" dirty="0"/>
          </a:p>
        </p:txBody>
      </p:sp>
      <p:sp>
        <p:nvSpPr>
          <p:cNvPr id="45" name="Text 43"/>
          <p:cNvSpPr/>
          <p:nvPr/>
        </p:nvSpPr>
        <p:spPr>
          <a:xfrm>
            <a:off x="2450592" y="470001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Retention of records in non-rewriteable, non-erasable form for specified periods.</a:t>
            </a:r>
            <a:endParaRPr lang="en-US" sz="950" dirty="0"/>
          </a:p>
        </p:txBody>
      </p:sp>
      <p:sp>
        <p:nvSpPr>
          <p:cNvPr id="46" name="Text 44"/>
          <p:cNvSpPr/>
          <p:nvPr/>
        </p:nvSpPr>
        <p:spPr>
          <a:xfrm>
            <a:off x="6473952" y="470001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Veeam Backup for M365 provides immutable tenant-wide backup (Exchange, SharePoint, OneDrive, Teams).</a:t>
            </a:r>
            <a:endParaRPr lang="en-US" sz="950" dirty="0"/>
          </a:p>
        </p:txBody>
      </p:sp>
      <p:sp>
        <p:nvSpPr>
          <p:cNvPr id="47" name="Shape 45"/>
          <p:cNvSpPr/>
          <p:nvPr/>
        </p:nvSpPr>
        <p:spPr>
          <a:xfrm>
            <a:off x="548640" y="5166360"/>
            <a:ext cx="11064240" cy="530352"/>
          </a:xfrm>
          <a:prstGeom prst="rect">
            <a:avLst/>
          </a:prstGeom>
          <a:solidFill>
            <a:srgbClr val="EEF2F7"/>
          </a:solidFill>
          <a:ln w="12700">
            <a:solidFill>
              <a:srgbClr val="D8E0EA"/>
            </a:solidFill>
            <a:prstDash val="solid"/>
          </a:ln>
        </p:spPr>
      </p:sp>
      <p:sp>
        <p:nvSpPr>
          <p:cNvPr id="48" name="Text 46"/>
          <p:cNvSpPr/>
          <p:nvPr/>
        </p:nvSpPr>
        <p:spPr>
          <a:xfrm>
            <a:off x="621792" y="524865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FINRA 4511</a:t>
            </a:r>
            <a:endParaRPr lang="en-US" sz="950" dirty="0"/>
          </a:p>
        </p:txBody>
      </p:sp>
      <p:sp>
        <p:nvSpPr>
          <p:cNvPr id="49" name="Text 47"/>
          <p:cNvSpPr/>
          <p:nvPr/>
        </p:nvSpPr>
        <p:spPr>
          <a:xfrm>
            <a:off x="2450592" y="524865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Firms must make and preserve books and records as required under FINRA and SEA 17a-3/17a-4.</a:t>
            </a:r>
            <a:endParaRPr lang="en-US" sz="950" dirty="0"/>
          </a:p>
        </p:txBody>
      </p:sp>
      <p:sp>
        <p:nvSpPr>
          <p:cNvPr id="50" name="Text 48"/>
          <p:cNvSpPr/>
          <p:nvPr/>
        </p:nvSpPr>
        <p:spPr>
          <a:xfrm>
            <a:off x="6473952" y="524865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Audit logging plus Veeam preservation covers creation and retention in one integrated layer.</a:t>
            </a:r>
            <a:endParaRPr lang="en-US" sz="950" dirty="0"/>
          </a:p>
        </p:txBody>
      </p:sp>
      <p:sp>
        <p:nvSpPr>
          <p:cNvPr id="51" name="Shape 49"/>
          <p:cNvSpPr/>
          <p:nvPr/>
        </p:nvSpPr>
        <p:spPr>
          <a:xfrm>
            <a:off x="548640" y="5715000"/>
            <a:ext cx="11064240" cy="530352"/>
          </a:xfrm>
          <a:prstGeom prst="rect">
            <a:avLst/>
          </a:prstGeom>
          <a:solidFill>
            <a:srgbClr val="FFFFFF"/>
          </a:solidFill>
          <a:ln w="12700">
            <a:solidFill>
              <a:srgbClr val="D8E0EA"/>
            </a:solidFill>
            <a:prstDash val="solid"/>
          </a:ln>
        </p:spPr>
      </p:sp>
      <p:sp>
        <p:nvSpPr>
          <p:cNvPr id="52" name="Text 50"/>
          <p:cNvSpPr/>
          <p:nvPr/>
        </p:nvSpPr>
        <p:spPr>
          <a:xfrm>
            <a:off x="621792" y="5797296"/>
            <a:ext cx="16824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SEC Cyber Risk Mgmt</a:t>
            </a:r>
            <a:endParaRPr lang="en-US" sz="950" dirty="0"/>
          </a:p>
        </p:txBody>
      </p:sp>
      <p:sp>
        <p:nvSpPr>
          <p:cNvPr id="53" name="Text 51"/>
          <p:cNvSpPr/>
          <p:nvPr/>
        </p:nvSpPr>
        <p:spPr>
          <a:xfrm>
            <a:off x="2450592" y="5797296"/>
            <a:ext cx="38770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Written cybersecurity policies, incident disclosure, and board oversight for advisers.</a:t>
            </a:r>
            <a:endParaRPr lang="en-US" sz="950" dirty="0"/>
          </a:p>
        </p:txBody>
      </p:sp>
      <p:sp>
        <p:nvSpPr>
          <p:cNvPr id="54" name="Text 52"/>
          <p:cNvSpPr/>
          <p:nvPr/>
        </p:nvSpPr>
        <p:spPr>
          <a:xfrm>
            <a:off x="6473952" y="5797296"/>
            <a:ext cx="506577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Documented control stack, drift monitoring, and IR evidence package aligns with the rule set.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CONTROL-TO-CITATION MAP</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Every Component Maps To A Specific FINRA Or SEC Requirement</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If a design element cannot be tied to a citation, it is not in the proposal.</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4</a:t>
            </a:r>
            <a:endParaRPr lang="en-US" sz="1000" dirty="0"/>
          </a:p>
        </p:txBody>
      </p:sp>
      <p:sp>
        <p:nvSpPr>
          <p:cNvPr id="23" name="Shape 21"/>
          <p:cNvSpPr/>
          <p:nvPr/>
        </p:nvSpPr>
        <p:spPr>
          <a:xfrm>
            <a:off x="502920" y="2057400"/>
            <a:ext cx="11155680" cy="347472"/>
          </a:xfrm>
          <a:prstGeom prst="roundRect">
            <a:avLst>
              <a:gd name="adj" fmla="val 7895"/>
            </a:avLst>
          </a:prstGeom>
          <a:solidFill>
            <a:srgbClr val="006DB6"/>
          </a:solidFill>
          <a:ln w="12700">
            <a:solidFill>
              <a:srgbClr val="006DB6">
                <a:alpha val="0"/>
              </a:srgbClr>
            </a:solidFill>
            <a:prstDash val="solid"/>
          </a:ln>
        </p:spPr>
      </p:sp>
      <p:sp>
        <p:nvSpPr>
          <p:cNvPr id="24" name="Text 22"/>
          <p:cNvSpPr/>
          <p:nvPr/>
        </p:nvSpPr>
        <p:spPr>
          <a:xfrm>
            <a:off x="576072" y="2130552"/>
            <a:ext cx="223113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Design Component</a:t>
            </a:r>
            <a:endParaRPr lang="en-US" sz="900" dirty="0"/>
          </a:p>
        </p:txBody>
      </p:sp>
      <p:sp>
        <p:nvSpPr>
          <p:cNvPr id="25" name="Text 23"/>
          <p:cNvSpPr/>
          <p:nvPr/>
        </p:nvSpPr>
        <p:spPr>
          <a:xfrm>
            <a:off x="2953512" y="2130552"/>
            <a:ext cx="433425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Control Objective</a:t>
            </a:r>
            <a:endParaRPr lang="en-US" sz="900" dirty="0"/>
          </a:p>
        </p:txBody>
      </p:sp>
      <p:sp>
        <p:nvSpPr>
          <p:cNvPr id="26" name="Text 24"/>
          <p:cNvSpPr/>
          <p:nvPr/>
        </p:nvSpPr>
        <p:spPr>
          <a:xfrm>
            <a:off x="7434072" y="2130552"/>
            <a:ext cx="415137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Citation(s)</a:t>
            </a:r>
            <a:endParaRPr lang="en-US" sz="900" dirty="0"/>
          </a:p>
        </p:txBody>
      </p:sp>
      <p:sp>
        <p:nvSpPr>
          <p:cNvPr id="27" name="Shape 25"/>
          <p:cNvSpPr/>
          <p:nvPr/>
        </p:nvSpPr>
        <p:spPr>
          <a:xfrm>
            <a:off x="502920" y="2423160"/>
            <a:ext cx="11155680" cy="512064"/>
          </a:xfrm>
          <a:prstGeom prst="rect">
            <a:avLst/>
          </a:prstGeom>
          <a:solidFill>
            <a:srgbClr val="FFFFFF"/>
          </a:solidFill>
          <a:ln w="12700">
            <a:solidFill>
              <a:srgbClr val="D8E0EA"/>
            </a:solidFill>
            <a:prstDash val="solid"/>
          </a:ln>
        </p:spPr>
      </p:sp>
      <p:sp>
        <p:nvSpPr>
          <p:cNvPr id="28" name="Text 26"/>
          <p:cNvSpPr/>
          <p:nvPr/>
        </p:nvSpPr>
        <p:spPr>
          <a:xfrm>
            <a:off x="576072" y="2505456"/>
            <a:ext cx="2231136" cy="365760"/>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Horizon VDI (7 roles)</a:t>
            </a:r>
            <a:endParaRPr lang="en-US" sz="950" dirty="0"/>
          </a:p>
        </p:txBody>
      </p:sp>
      <p:sp>
        <p:nvSpPr>
          <p:cNvPr id="29" name="Text 27"/>
          <p:cNvSpPr/>
          <p:nvPr/>
        </p:nvSpPr>
        <p:spPr>
          <a:xfrm>
            <a:off x="2953512" y="2505456"/>
            <a:ext cx="433425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Client financial data is processed only inside a managed, supervised environment.</a:t>
            </a:r>
            <a:endParaRPr lang="en-US" sz="950" dirty="0"/>
          </a:p>
        </p:txBody>
      </p:sp>
      <p:sp>
        <p:nvSpPr>
          <p:cNvPr id="30" name="Text 28"/>
          <p:cNvSpPr/>
          <p:nvPr/>
        </p:nvSpPr>
        <p:spPr>
          <a:xfrm>
            <a:off x="7434072" y="2505456"/>
            <a:ext cx="415137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§248.30(a)(1)-(3); FINRA 3110(a); NIST SP 800-53 AC-3, SC-7</a:t>
            </a:r>
            <a:endParaRPr lang="en-US" sz="950" dirty="0"/>
          </a:p>
        </p:txBody>
      </p:sp>
      <p:sp>
        <p:nvSpPr>
          <p:cNvPr id="31" name="Shape 29"/>
          <p:cNvSpPr/>
          <p:nvPr/>
        </p:nvSpPr>
        <p:spPr>
          <a:xfrm>
            <a:off x="502920" y="2953512"/>
            <a:ext cx="11155680" cy="512064"/>
          </a:xfrm>
          <a:prstGeom prst="rect">
            <a:avLst/>
          </a:prstGeom>
          <a:solidFill>
            <a:srgbClr val="EEF2F7"/>
          </a:solidFill>
          <a:ln w="12700">
            <a:solidFill>
              <a:srgbClr val="D8E0EA"/>
            </a:solidFill>
            <a:prstDash val="solid"/>
          </a:ln>
        </p:spPr>
      </p:sp>
      <p:sp>
        <p:nvSpPr>
          <p:cNvPr id="32" name="Text 30"/>
          <p:cNvSpPr/>
          <p:nvPr/>
        </p:nvSpPr>
        <p:spPr>
          <a:xfrm>
            <a:off x="576072" y="3035808"/>
            <a:ext cx="2231136" cy="365760"/>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MyAudit (endpoint DLP)</a:t>
            </a:r>
            <a:endParaRPr lang="en-US" sz="950" dirty="0"/>
          </a:p>
        </p:txBody>
      </p:sp>
      <p:sp>
        <p:nvSpPr>
          <p:cNvPr id="33" name="Text 31"/>
          <p:cNvSpPr/>
          <p:nvPr/>
        </p:nvSpPr>
        <p:spPr>
          <a:xfrm>
            <a:off x="2953512" y="3035808"/>
            <a:ext cx="433425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 USB, local download, print, clipboard, screen capture on managed devices.</a:t>
            </a:r>
            <a:endParaRPr lang="en-US" sz="950" dirty="0"/>
          </a:p>
        </p:txBody>
      </p:sp>
      <p:sp>
        <p:nvSpPr>
          <p:cNvPr id="34" name="Text 32"/>
          <p:cNvSpPr/>
          <p:nvPr/>
        </p:nvSpPr>
        <p:spPr>
          <a:xfrm>
            <a:off x="7434072" y="3035808"/>
            <a:ext cx="415137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§248.30(a)(3); NIST AC-19, MP-7, SC-8</a:t>
            </a:r>
            <a:endParaRPr lang="en-US" sz="950" dirty="0"/>
          </a:p>
        </p:txBody>
      </p:sp>
      <p:sp>
        <p:nvSpPr>
          <p:cNvPr id="35" name="Shape 33"/>
          <p:cNvSpPr/>
          <p:nvPr/>
        </p:nvSpPr>
        <p:spPr>
          <a:xfrm>
            <a:off x="502920" y="3483864"/>
            <a:ext cx="11155680" cy="512064"/>
          </a:xfrm>
          <a:prstGeom prst="rect">
            <a:avLst/>
          </a:prstGeom>
          <a:solidFill>
            <a:srgbClr val="FFFFFF"/>
          </a:solidFill>
          <a:ln w="12700">
            <a:solidFill>
              <a:srgbClr val="D8E0EA"/>
            </a:solidFill>
            <a:prstDash val="solid"/>
          </a:ln>
        </p:spPr>
      </p:sp>
      <p:sp>
        <p:nvSpPr>
          <p:cNvPr id="36" name="Text 34"/>
          <p:cNvSpPr/>
          <p:nvPr/>
        </p:nvSpPr>
        <p:spPr>
          <a:xfrm>
            <a:off x="576072" y="3566160"/>
            <a:ext cx="2231136" cy="365760"/>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SSO / 2FA gateway</a:t>
            </a:r>
            <a:endParaRPr lang="en-US" sz="950" dirty="0"/>
          </a:p>
        </p:txBody>
      </p:sp>
      <p:sp>
        <p:nvSpPr>
          <p:cNvPr id="37" name="Text 35"/>
          <p:cNvSpPr/>
          <p:nvPr/>
        </p:nvSpPr>
        <p:spPr>
          <a:xfrm>
            <a:off x="2953512" y="3566160"/>
            <a:ext cx="433425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Enforced, logged MFA on custodian bank portals, trading platforms, third-party SaaS.</a:t>
            </a:r>
            <a:endParaRPr lang="en-US" sz="950" dirty="0"/>
          </a:p>
        </p:txBody>
      </p:sp>
      <p:sp>
        <p:nvSpPr>
          <p:cNvPr id="38" name="Text 36"/>
          <p:cNvSpPr/>
          <p:nvPr/>
        </p:nvSpPr>
        <p:spPr>
          <a:xfrm>
            <a:off x="7434072" y="3566160"/>
            <a:ext cx="415137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 (2024 amend.); FFIEC Auth Guidance; NIST IA-2(1)</a:t>
            </a:r>
            <a:endParaRPr lang="en-US" sz="950" dirty="0"/>
          </a:p>
        </p:txBody>
      </p:sp>
      <p:sp>
        <p:nvSpPr>
          <p:cNvPr id="39" name="Shape 37"/>
          <p:cNvSpPr/>
          <p:nvPr/>
        </p:nvSpPr>
        <p:spPr>
          <a:xfrm>
            <a:off x="502920" y="4014216"/>
            <a:ext cx="11155680" cy="512064"/>
          </a:xfrm>
          <a:prstGeom prst="rect">
            <a:avLst/>
          </a:prstGeom>
          <a:solidFill>
            <a:srgbClr val="EEF2F7"/>
          </a:solidFill>
          <a:ln w="12700">
            <a:solidFill>
              <a:srgbClr val="D8E0EA"/>
            </a:solidFill>
            <a:prstDash val="solid"/>
          </a:ln>
        </p:spPr>
      </p:sp>
      <p:sp>
        <p:nvSpPr>
          <p:cNvPr id="40" name="Text 38"/>
          <p:cNvSpPr/>
          <p:nvPr/>
        </p:nvSpPr>
        <p:spPr>
          <a:xfrm>
            <a:off x="576072" y="4096512"/>
            <a:ext cx="2231136" cy="365760"/>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IP whitelist + managed endpoint</a:t>
            </a:r>
            <a:endParaRPr lang="en-US" sz="950" dirty="0"/>
          </a:p>
        </p:txBody>
      </p:sp>
      <p:sp>
        <p:nvSpPr>
          <p:cNvPr id="41" name="Text 39"/>
          <p:cNvSpPr/>
          <p:nvPr/>
        </p:nvSpPr>
        <p:spPr>
          <a:xfrm>
            <a:off x="2953512" y="4096512"/>
            <a:ext cx="433425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 M365 and portal access from personal devices and home networks.</a:t>
            </a:r>
            <a:endParaRPr lang="en-US" sz="950" dirty="0"/>
          </a:p>
        </p:txBody>
      </p:sp>
      <p:sp>
        <p:nvSpPr>
          <p:cNvPr id="42" name="Text 40"/>
          <p:cNvSpPr/>
          <p:nvPr/>
        </p:nvSpPr>
        <p:spPr>
          <a:xfrm>
            <a:off x="7434072" y="4096512"/>
            <a:ext cx="415137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Reg S-P §248.30(a)(3); FINRA 3110(a); NIST AC-3, AC-17</a:t>
            </a:r>
            <a:endParaRPr lang="en-US" sz="950" dirty="0"/>
          </a:p>
        </p:txBody>
      </p:sp>
      <p:sp>
        <p:nvSpPr>
          <p:cNvPr id="43" name="Shape 41"/>
          <p:cNvSpPr/>
          <p:nvPr/>
        </p:nvSpPr>
        <p:spPr>
          <a:xfrm>
            <a:off x="502920" y="4544568"/>
            <a:ext cx="11155680" cy="512064"/>
          </a:xfrm>
          <a:prstGeom prst="rect">
            <a:avLst/>
          </a:prstGeom>
          <a:solidFill>
            <a:srgbClr val="FFFFFF"/>
          </a:solidFill>
          <a:ln w="12700">
            <a:solidFill>
              <a:srgbClr val="D8E0EA"/>
            </a:solidFill>
            <a:prstDash val="solid"/>
          </a:ln>
        </p:spPr>
      </p:sp>
      <p:sp>
        <p:nvSpPr>
          <p:cNvPr id="44" name="Text 42"/>
          <p:cNvSpPr/>
          <p:nvPr/>
        </p:nvSpPr>
        <p:spPr>
          <a:xfrm>
            <a:off x="576072" y="4626864"/>
            <a:ext cx="2231136" cy="365760"/>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Veeam Backup for M365</a:t>
            </a:r>
            <a:endParaRPr lang="en-US" sz="950" dirty="0"/>
          </a:p>
        </p:txBody>
      </p:sp>
      <p:sp>
        <p:nvSpPr>
          <p:cNvPr id="45" name="Text 43"/>
          <p:cNvSpPr/>
          <p:nvPr/>
        </p:nvSpPr>
        <p:spPr>
          <a:xfrm>
            <a:off x="2953512" y="4626864"/>
            <a:ext cx="433425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Immutable, non-rewriteable backup of full tenant (Exchange, SharePoint, OneDrive, Teams).</a:t>
            </a:r>
            <a:endParaRPr lang="en-US" sz="950" dirty="0"/>
          </a:p>
        </p:txBody>
      </p:sp>
      <p:sp>
        <p:nvSpPr>
          <p:cNvPr id="46" name="Text 44"/>
          <p:cNvSpPr/>
          <p:nvPr/>
        </p:nvSpPr>
        <p:spPr>
          <a:xfrm>
            <a:off x="7434072" y="4626864"/>
            <a:ext cx="415137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SEC Rule 17a-4(b),(f); FINRA 4511; Reg S-P availability</a:t>
            </a:r>
            <a:endParaRPr lang="en-US" sz="950" dirty="0"/>
          </a:p>
        </p:txBody>
      </p:sp>
      <p:sp>
        <p:nvSpPr>
          <p:cNvPr id="47" name="Shape 45"/>
          <p:cNvSpPr/>
          <p:nvPr/>
        </p:nvSpPr>
        <p:spPr>
          <a:xfrm>
            <a:off x="502920" y="5074920"/>
            <a:ext cx="11155680" cy="512064"/>
          </a:xfrm>
          <a:prstGeom prst="rect">
            <a:avLst/>
          </a:prstGeom>
          <a:solidFill>
            <a:srgbClr val="EEF2F7"/>
          </a:solidFill>
          <a:ln w="12700">
            <a:solidFill>
              <a:srgbClr val="D8E0EA"/>
            </a:solidFill>
            <a:prstDash val="solid"/>
          </a:ln>
        </p:spPr>
      </p:sp>
      <p:sp>
        <p:nvSpPr>
          <p:cNvPr id="48" name="Text 46"/>
          <p:cNvSpPr/>
          <p:nvPr/>
        </p:nvSpPr>
        <p:spPr>
          <a:xfrm>
            <a:off x="576072" y="5157216"/>
            <a:ext cx="2231136" cy="365760"/>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monthly assessment</a:t>
            </a:r>
            <a:endParaRPr lang="en-US" sz="950" dirty="0"/>
          </a:p>
        </p:txBody>
      </p:sp>
      <p:sp>
        <p:nvSpPr>
          <p:cNvPr id="49" name="Text 47"/>
          <p:cNvSpPr/>
          <p:nvPr/>
        </p:nvSpPr>
        <p:spPr>
          <a:xfrm>
            <a:off x="2953512" y="5157216"/>
            <a:ext cx="433425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Detect configuration drift; attested evidence of ongoing control operation.</a:t>
            </a:r>
            <a:endParaRPr lang="en-US" sz="950" dirty="0"/>
          </a:p>
        </p:txBody>
      </p:sp>
      <p:sp>
        <p:nvSpPr>
          <p:cNvPr id="50" name="Text 48"/>
          <p:cNvSpPr/>
          <p:nvPr/>
        </p:nvSpPr>
        <p:spPr>
          <a:xfrm>
            <a:off x="7434072" y="5157216"/>
            <a:ext cx="415137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FINRA 3110(c); FINRA 3120; Reg S-P annual review</a:t>
            </a:r>
            <a:endParaRPr lang="en-US" sz="950" dirty="0"/>
          </a:p>
        </p:txBody>
      </p:sp>
      <p:sp>
        <p:nvSpPr>
          <p:cNvPr id="51" name="Shape 49"/>
          <p:cNvSpPr/>
          <p:nvPr/>
        </p:nvSpPr>
        <p:spPr>
          <a:xfrm>
            <a:off x="502920" y="5605272"/>
            <a:ext cx="11155680" cy="512064"/>
          </a:xfrm>
          <a:prstGeom prst="rect">
            <a:avLst/>
          </a:prstGeom>
          <a:solidFill>
            <a:srgbClr val="FFFFFF"/>
          </a:solidFill>
          <a:ln w="12700">
            <a:solidFill>
              <a:srgbClr val="D8E0EA"/>
            </a:solidFill>
            <a:prstDash val="solid"/>
          </a:ln>
        </p:spPr>
      </p:sp>
      <p:sp>
        <p:nvSpPr>
          <p:cNvPr id="52" name="Text 50"/>
          <p:cNvSpPr/>
          <p:nvPr/>
        </p:nvSpPr>
        <p:spPr>
          <a:xfrm>
            <a:off x="576072" y="5687568"/>
            <a:ext cx="2231136" cy="365760"/>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Audit logging (Technijian + M365)</a:t>
            </a:r>
            <a:endParaRPr lang="en-US" sz="950" dirty="0"/>
          </a:p>
        </p:txBody>
      </p:sp>
      <p:sp>
        <p:nvSpPr>
          <p:cNvPr id="53" name="Text 51"/>
          <p:cNvSpPr/>
          <p:nvPr/>
        </p:nvSpPr>
        <p:spPr>
          <a:xfrm>
            <a:off x="2953512" y="5687568"/>
            <a:ext cx="433425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Records of access, privileged actions, and data movement retained for examination.</a:t>
            </a:r>
            <a:endParaRPr lang="en-US" sz="950" dirty="0"/>
          </a:p>
        </p:txBody>
      </p:sp>
      <p:sp>
        <p:nvSpPr>
          <p:cNvPr id="54" name="Text 52"/>
          <p:cNvSpPr/>
          <p:nvPr/>
        </p:nvSpPr>
        <p:spPr>
          <a:xfrm>
            <a:off x="7434072" y="5687568"/>
            <a:ext cx="4151376"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SEC 17a-4(b)(4),(e)(7); FINRA 4511; Reg S-P §248.30(a)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CONTROLLED WORKSPACE</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Technijian Horizon VDI Is A Compliance Requirement, Not A Design Preference</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Dedicated VDI workstations in the Technijian datacenter, scoped to the 7 roles that touch client financial data.</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5</a:t>
            </a:r>
            <a:endParaRPr lang="en-US" sz="1000" dirty="0"/>
          </a:p>
        </p:txBody>
      </p:sp>
      <p:sp>
        <p:nvSpPr>
          <p:cNvPr id="23" name="Shape 21"/>
          <p:cNvSpPr/>
          <p:nvPr/>
        </p:nvSpPr>
        <p:spPr>
          <a:xfrm>
            <a:off x="685800" y="2103120"/>
            <a:ext cx="3017520" cy="3840480"/>
          </a:xfrm>
          <a:prstGeom prst="roundRect">
            <a:avLst>
              <a:gd name="adj" fmla="val 2424"/>
            </a:avLst>
          </a:prstGeom>
          <a:solidFill>
            <a:srgbClr val="1A1A2E"/>
          </a:solidFill>
          <a:ln w="12700">
            <a:solidFill>
              <a:srgbClr val="1A1A2E"/>
            </a:solidFill>
            <a:prstDash val="solid"/>
          </a:ln>
        </p:spPr>
      </p:sp>
      <p:sp>
        <p:nvSpPr>
          <p:cNvPr id="24" name="Text 22"/>
          <p:cNvSpPr/>
          <p:nvPr/>
        </p:nvSpPr>
        <p:spPr>
          <a:xfrm>
            <a:off x="914400" y="2423160"/>
            <a:ext cx="1097280" cy="822960"/>
          </a:xfrm>
          <a:prstGeom prst="rect">
            <a:avLst/>
          </a:prstGeom>
          <a:noFill/>
          <a:ln/>
        </p:spPr>
        <p:txBody>
          <a:bodyPr wrap="square" lIns="0" tIns="0" rIns="0" bIns="0" rtlCol="0" anchor="ctr"/>
          <a:lstStyle/>
          <a:p>
            <a:pPr indent="0" marL="0">
              <a:buNone/>
            </a:pPr>
            <a:r>
              <a:rPr lang="en-US" sz="5400" b="1" dirty="0">
                <a:solidFill>
                  <a:srgbClr val="F67D4B"/>
                </a:solidFill>
                <a:latin typeface="Arial" pitchFamily="34" charset="0"/>
                <a:ea typeface="Arial" pitchFamily="34" charset="-122"/>
                <a:cs typeface="Arial" pitchFamily="34" charset="-120"/>
              </a:rPr>
              <a:t>7</a:t>
            </a:r>
            <a:endParaRPr lang="en-US" sz="5400" dirty="0"/>
          </a:p>
        </p:txBody>
      </p:sp>
      <p:sp>
        <p:nvSpPr>
          <p:cNvPr id="25" name="Text 23"/>
          <p:cNvSpPr/>
          <p:nvPr/>
        </p:nvSpPr>
        <p:spPr>
          <a:xfrm>
            <a:off x="914400" y="3200400"/>
            <a:ext cx="20116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in-scope users</a:t>
            </a:r>
            <a:endParaRPr lang="en-US" sz="1400" dirty="0"/>
          </a:p>
        </p:txBody>
      </p:sp>
      <p:sp>
        <p:nvSpPr>
          <p:cNvPr id="26" name="Text 24"/>
          <p:cNvSpPr/>
          <p:nvPr/>
        </p:nvSpPr>
        <p:spPr>
          <a:xfrm>
            <a:off x="914400" y="3611880"/>
            <a:ext cx="2560320" cy="2103120"/>
          </a:xfrm>
          <a:prstGeom prst="rect">
            <a:avLst/>
          </a:prstGeom>
          <a:noFill/>
          <a:ln/>
        </p:spPr>
        <p:txBody>
          <a:bodyPr wrap="square" lIns="0" tIns="0" rIns="0" bIns="0" rtlCol="0" anchor="t"/>
          <a:lstStyle/>
          <a:p>
            <a:pPr indent="0" marL="0">
              <a:buNone/>
            </a:pPr>
            <a:r>
              <a:rPr lang="en-US" sz="1200" dirty="0">
                <a:solidFill>
                  <a:srgbClr val="DCE5F2"/>
                </a:solidFill>
                <a:latin typeface="Arial" pitchFamily="34" charset="0"/>
                <a:ea typeface="Arial" pitchFamily="34" charset="-122"/>
                <a:cs typeface="Arial" pitchFamily="34" charset="-120"/>
              </a:rPr>
              <a:t>Only the roles with access to client financial data operate inside Technijian Horizon VDI workstations hosted in the Technijian datacenter. Remaining staff use standard managed endpoints with IP whitelist access to M365.</a:t>
            </a:r>
            <a:endParaRPr lang="en-US" sz="1200" dirty="0"/>
          </a:p>
        </p:txBody>
      </p:sp>
      <p:sp>
        <p:nvSpPr>
          <p:cNvPr id="27" name="Shape 25"/>
          <p:cNvSpPr/>
          <p:nvPr/>
        </p:nvSpPr>
        <p:spPr>
          <a:xfrm>
            <a:off x="3977640" y="2103120"/>
            <a:ext cx="7589520" cy="1188720"/>
          </a:xfrm>
          <a:prstGeom prst="roundRect">
            <a:avLst>
              <a:gd name="adj" fmla="val 6154"/>
            </a:avLst>
          </a:prstGeom>
          <a:solidFill>
            <a:srgbClr val="EAF4FB"/>
          </a:solidFill>
          <a:ln w="12700">
            <a:solidFill>
              <a:srgbClr val="006DB6"/>
            </a:solidFill>
            <a:prstDash val="solid"/>
          </a:ln>
        </p:spPr>
      </p:sp>
      <p:sp>
        <p:nvSpPr>
          <p:cNvPr id="28" name="Shape 26"/>
          <p:cNvSpPr/>
          <p:nvPr/>
        </p:nvSpPr>
        <p:spPr>
          <a:xfrm>
            <a:off x="3977640" y="2103120"/>
            <a:ext cx="7589520" cy="91440"/>
          </a:xfrm>
          <a:prstGeom prst="rect">
            <a:avLst/>
          </a:prstGeom>
          <a:solidFill>
            <a:srgbClr val="006DB6"/>
          </a:solidFill>
          <a:ln w="12700">
            <a:solidFill>
              <a:srgbClr val="006DB6">
                <a:alpha val="0"/>
              </a:srgbClr>
            </a:solidFill>
            <a:prstDash val="solid"/>
          </a:ln>
        </p:spPr>
      </p:sp>
      <p:sp>
        <p:nvSpPr>
          <p:cNvPr id="29" name="Text 27"/>
          <p:cNvSpPr/>
          <p:nvPr/>
        </p:nvSpPr>
        <p:spPr>
          <a:xfrm>
            <a:off x="4142232" y="2286000"/>
            <a:ext cx="726033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WHY HORIZON VDI (NOT JUST MANAGED LAPTOPS)</a:t>
            </a:r>
            <a:endParaRPr lang="en-US" sz="900" dirty="0"/>
          </a:p>
        </p:txBody>
      </p:sp>
      <p:sp>
        <p:nvSpPr>
          <p:cNvPr id="30" name="Text 28"/>
          <p:cNvSpPr/>
          <p:nvPr/>
        </p:nvSpPr>
        <p:spPr>
          <a:xfrm>
            <a:off x="4142232" y="2889504"/>
            <a:ext cx="7260336" cy="2651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Client data stays in the Technijian datacenter. Even on a stolen or compromised endpoint, no regulated data is resident on the device. This is the cleanest Reg S-P §248.30(a) technical safeguard posture available.</a:t>
            </a:r>
            <a:endParaRPr lang="en-US" sz="1050" dirty="0"/>
          </a:p>
        </p:txBody>
      </p:sp>
      <p:sp>
        <p:nvSpPr>
          <p:cNvPr id="31" name="Shape 29"/>
          <p:cNvSpPr/>
          <p:nvPr/>
        </p:nvSpPr>
        <p:spPr>
          <a:xfrm>
            <a:off x="3977640" y="3383280"/>
            <a:ext cx="7589520" cy="1188720"/>
          </a:xfrm>
          <a:prstGeom prst="roundRect">
            <a:avLst>
              <a:gd name="adj" fmla="val 6154"/>
            </a:avLst>
          </a:prstGeom>
          <a:solidFill>
            <a:srgbClr val="E8F8FB"/>
          </a:solidFill>
          <a:ln w="12700">
            <a:solidFill>
              <a:srgbClr val="1EAAC8"/>
            </a:solidFill>
            <a:prstDash val="solid"/>
          </a:ln>
        </p:spPr>
      </p:sp>
      <p:sp>
        <p:nvSpPr>
          <p:cNvPr id="32" name="Shape 30"/>
          <p:cNvSpPr/>
          <p:nvPr/>
        </p:nvSpPr>
        <p:spPr>
          <a:xfrm>
            <a:off x="3977640" y="3383280"/>
            <a:ext cx="7589520" cy="91440"/>
          </a:xfrm>
          <a:prstGeom prst="rect">
            <a:avLst/>
          </a:prstGeom>
          <a:solidFill>
            <a:srgbClr val="1EAAC8"/>
          </a:solidFill>
          <a:ln w="12700">
            <a:solidFill>
              <a:srgbClr val="1EAAC8">
                <a:alpha val="0"/>
              </a:srgbClr>
            </a:solidFill>
            <a:prstDash val="solid"/>
          </a:ln>
        </p:spPr>
      </p:sp>
      <p:sp>
        <p:nvSpPr>
          <p:cNvPr id="33" name="Text 31"/>
          <p:cNvSpPr/>
          <p:nvPr/>
        </p:nvSpPr>
        <p:spPr>
          <a:xfrm>
            <a:off x="4142232" y="3566160"/>
            <a:ext cx="726033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WHY ONLY 7 USERS</a:t>
            </a:r>
            <a:endParaRPr lang="en-US" sz="900" dirty="0"/>
          </a:p>
        </p:txBody>
      </p:sp>
      <p:sp>
        <p:nvSpPr>
          <p:cNvPr id="34" name="Text 32"/>
          <p:cNvSpPr/>
          <p:nvPr/>
        </p:nvSpPr>
        <p:spPr>
          <a:xfrm>
            <a:off x="4142232" y="4169664"/>
            <a:ext cx="7260336" cy="2651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Reg S-P and FINRA 3110 obligations attach to users and systems that touch customer info. Scoping Horizon VDI to the 7 roles aligns control cost with risk without weakening the supervisory boundary.</a:t>
            </a:r>
            <a:endParaRPr lang="en-US" sz="1050" dirty="0"/>
          </a:p>
        </p:txBody>
      </p:sp>
      <p:sp>
        <p:nvSpPr>
          <p:cNvPr id="35" name="Shape 33"/>
          <p:cNvSpPr/>
          <p:nvPr/>
        </p:nvSpPr>
        <p:spPr>
          <a:xfrm>
            <a:off x="3977640" y="4663440"/>
            <a:ext cx="7589520" cy="1280160"/>
          </a:xfrm>
          <a:prstGeom prst="roundRect">
            <a:avLst>
              <a:gd name="adj" fmla="val 5714"/>
            </a:avLst>
          </a:prstGeom>
          <a:solidFill>
            <a:srgbClr val="FFF1EA"/>
          </a:solidFill>
          <a:ln w="12700">
            <a:solidFill>
              <a:srgbClr val="F67D4B"/>
            </a:solidFill>
            <a:prstDash val="solid"/>
          </a:ln>
        </p:spPr>
      </p:sp>
      <p:sp>
        <p:nvSpPr>
          <p:cNvPr id="36" name="Shape 34"/>
          <p:cNvSpPr/>
          <p:nvPr/>
        </p:nvSpPr>
        <p:spPr>
          <a:xfrm>
            <a:off x="3977640" y="4663440"/>
            <a:ext cx="7589520" cy="91440"/>
          </a:xfrm>
          <a:prstGeom prst="rect">
            <a:avLst/>
          </a:prstGeom>
          <a:solidFill>
            <a:srgbClr val="F67D4B"/>
          </a:solidFill>
          <a:ln w="12700">
            <a:solidFill>
              <a:srgbClr val="F67D4B">
                <a:alpha val="0"/>
              </a:srgbClr>
            </a:solidFill>
            <a:prstDash val="solid"/>
          </a:ln>
        </p:spPr>
      </p:sp>
      <p:sp>
        <p:nvSpPr>
          <p:cNvPr id="37" name="Text 35"/>
          <p:cNvSpPr/>
          <p:nvPr/>
        </p:nvSpPr>
        <p:spPr>
          <a:xfrm>
            <a:off x="4142232" y="4846320"/>
            <a:ext cx="726033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EXAMINER OPTIC</a:t>
            </a:r>
            <a:endParaRPr lang="en-US" sz="900" dirty="0"/>
          </a:p>
        </p:txBody>
      </p:sp>
      <p:sp>
        <p:nvSpPr>
          <p:cNvPr id="38" name="Text 36"/>
          <p:cNvSpPr/>
          <p:nvPr/>
        </p:nvSpPr>
        <p:spPr>
          <a:xfrm>
            <a:off x="4142232" y="5449824"/>
            <a:ext cx="7260336" cy="3566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named Horizon VDI pool in the Technijian datacenter with documented membership, access rules, and session recording produces a clean, defensible answer to "show us where and how customer records are accessed" - exactly what Reg S-P exams ask.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DESKTOP MODEL</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Dedicated Technijian Horizon VDI Workstations vs Multi-Session Technijian RDP Server</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Both options are Technijian-hosted in the Technijian datacenter. The choice is how users are isolated from each other.</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6</a:t>
            </a:r>
            <a:endParaRPr lang="en-US" sz="1000" dirty="0"/>
          </a:p>
        </p:txBody>
      </p:sp>
      <p:sp>
        <p:nvSpPr>
          <p:cNvPr id="23" name="Shape 21"/>
          <p:cNvSpPr/>
          <p:nvPr/>
        </p:nvSpPr>
        <p:spPr>
          <a:xfrm>
            <a:off x="640080" y="2057400"/>
            <a:ext cx="10698480" cy="347472"/>
          </a:xfrm>
          <a:prstGeom prst="roundRect">
            <a:avLst>
              <a:gd name="adj" fmla="val 7895"/>
            </a:avLst>
          </a:prstGeom>
          <a:solidFill>
            <a:srgbClr val="1A1A2E"/>
          </a:solidFill>
          <a:ln w="12700">
            <a:solidFill>
              <a:srgbClr val="1A1A2E">
                <a:alpha val="0"/>
              </a:srgbClr>
            </a:solidFill>
            <a:prstDash val="solid"/>
          </a:ln>
        </p:spPr>
      </p:sp>
      <p:sp>
        <p:nvSpPr>
          <p:cNvPr id="24" name="Text 22"/>
          <p:cNvSpPr/>
          <p:nvPr/>
        </p:nvSpPr>
        <p:spPr>
          <a:xfrm>
            <a:off x="713232" y="2130552"/>
            <a:ext cx="200253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Factor</a:t>
            </a:r>
            <a:endParaRPr lang="en-US" sz="900" dirty="0"/>
          </a:p>
        </p:txBody>
      </p:sp>
      <p:sp>
        <p:nvSpPr>
          <p:cNvPr id="25" name="Text 23"/>
          <p:cNvSpPr/>
          <p:nvPr/>
        </p:nvSpPr>
        <p:spPr>
          <a:xfrm>
            <a:off x="2907792" y="2130552"/>
            <a:ext cx="332841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Dedicated Horizon VDI Workstation (recommended)</a:t>
            </a:r>
            <a:endParaRPr lang="en-US" sz="900" dirty="0"/>
          </a:p>
        </p:txBody>
      </p:sp>
      <p:sp>
        <p:nvSpPr>
          <p:cNvPr id="26" name="Text 24"/>
          <p:cNvSpPr/>
          <p:nvPr/>
        </p:nvSpPr>
        <p:spPr>
          <a:xfrm>
            <a:off x="6473952" y="2130552"/>
            <a:ext cx="492861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Multi-Session Technijian RDP Server</a:t>
            </a:r>
            <a:endParaRPr lang="en-US" sz="900" dirty="0"/>
          </a:p>
        </p:txBody>
      </p:sp>
      <p:sp>
        <p:nvSpPr>
          <p:cNvPr id="27" name="Shape 25"/>
          <p:cNvSpPr/>
          <p:nvPr/>
        </p:nvSpPr>
        <p:spPr>
          <a:xfrm>
            <a:off x="640080" y="2423160"/>
            <a:ext cx="10698480" cy="603504"/>
          </a:xfrm>
          <a:prstGeom prst="rect">
            <a:avLst/>
          </a:prstGeom>
          <a:solidFill>
            <a:srgbClr val="FFFFFF"/>
          </a:solidFill>
          <a:ln w="12700">
            <a:solidFill>
              <a:srgbClr val="D8E0EA"/>
            </a:solidFill>
            <a:prstDash val="solid"/>
          </a:ln>
        </p:spPr>
      </p:sp>
      <p:sp>
        <p:nvSpPr>
          <p:cNvPr id="28" name="Text 26"/>
          <p:cNvSpPr/>
          <p:nvPr/>
        </p:nvSpPr>
        <p:spPr>
          <a:xfrm>
            <a:off x="713232" y="2505456"/>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Hosting</a:t>
            </a:r>
            <a:endParaRPr lang="en-US" sz="1000" dirty="0"/>
          </a:p>
        </p:txBody>
      </p:sp>
      <p:sp>
        <p:nvSpPr>
          <p:cNvPr id="29" name="Text 27"/>
          <p:cNvSpPr/>
          <p:nvPr/>
        </p:nvSpPr>
        <p:spPr>
          <a:xfrm>
            <a:off x="2907792" y="2505456"/>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Technijian datacenter - dedicated virtual workstation per user.</a:t>
            </a:r>
            <a:endParaRPr lang="en-US" sz="1000" dirty="0"/>
          </a:p>
        </p:txBody>
      </p:sp>
      <p:sp>
        <p:nvSpPr>
          <p:cNvPr id="30" name="Text 28"/>
          <p:cNvSpPr/>
          <p:nvPr/>
        </p:nvSpPr>
        <p:spPr>
          <a:xfrm>
            <a:off x="6473952" y="2505456"/>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Technijian datacenter - one shared Windows Server hosts all 7 sessions.</a:t>
            </a:r>
            <a:endParaRPr lang="en-US" sz="1000" dirty="0"/>
          </a:p>
        </p:txBody>
      </p:sp>
      <p:sp>
        <p:nvSpPr>
          <p:cNvPr id="31" name="Shape 29"/>
          <p:cNvSpPr/>
          <p:nvPr/>
        </p:nvSpPr>
        <p:spPr>
          <a:xfrm>
            <a:off x="640080" y="3044952"/>
            <a:ext cx="10698480" cy="603504"/>
          </a:xfrm>
          <a:prstGeom prst="rect">
            <a:avLst/>
          </a:prstGeom>
          <a:solidFill>
            <a:srgbClr val="EEF2F7"/>
          </a:solidFill>
          <a:ln w="12700">
            <a:solidFill>
              <a:srgbClr val="D8E0EA"/>
            </a:solidFill>
            <a:prstDash val="solid"/>
          </a:ln>
        </p:spPr>
      </p:sp>
      <p:sp>
        <p:nvSpPr>
          <p:cNvPr id="32" name="Text 30"/>
          <p:cNvSpPr/>
          <p:nvPr/>
        </p:nvSpPr>
        <p:spPr>
          <a:xfrm>
            <a:off x="713232" y="3127248"/>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Isolation level</a:t>
            </a:r>
            <a:endParaRPr lang="en-US" sz="1000" dirty="0"/>
          </a:p>
        </p:txBody>
      </p:sp>
      <p:sp>
        <p:nvSpPr>
          <p:cNvPr id="33" name="Text 31"/>
          <p:cNvSpPr/>
          <p:nvPr/>
        </p:nvSpPr>
        <p:spPr>
          <a:xfrm>
            <a:off x="2907792" y="3127248"/>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Hypervisor-level: one user, one VM, dedicated OS kernel, memory, filesystem.</a:t>
            </a:r>
            <a:endParaRPr lang="en-US" sz="1000" dirty="0"/>
          </a:p>
        </p:txBody>
      </p:sp>
      <p:sp>
        <p:nvSpPr>
          <p:cNvPr id="34" name="Text 32"/>
          <p:cNvSpPr/>
          <p:nvPr/>
        </p:nvSpPr>
        <p:spPr>
          <a:xfrm>
            <a:off x="6473952" y="3127248"/>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Logical-only: all 7 users share one Windows Server OS, kernel, memory, and filesystem.</a:t>
            </a:r>
            <a:endParaRPr lang="en-US" sz="1000" dirty="0"/>
          </a:p>
        </p:txBody>
      </p:sp>
      <p:sp>
        <p:nvSpPr>
          <p:cNvPr id="35" name="Shape 33"/>
          <p:cNvSpPr/>
          <p:nvPr/>
        </p:nvSpPr>
        <p:spPr>
          <a:xfrm>
            <a:off x="640080" y="3666744"/>
            <a:ext cx="10698480" cy="603504"/>
          </a:xfrm>
          <a:prstGeom prst="rect">
            <a:avLst/>
          </a:prstGeom>
          <a:solidFill>
            <a:srgbClr val="FFFFFF"/>
          </a:solidFill>
          <a:ln w="12700">
            <a:solidFill>
              <a:srgbClr val="D8E0EA"/>
            </a:solidFill>
            <a:prstDash val="solid"/>
          </a:ln>
        </p:spPr>
      </p:sp>
      <p:sp>
        <p:nvSpPr>
          <p:cNvPr id="36" name="Text 34"/>
          <p:cNvSpPr/>
          <p:nvPr/>
        </p:nvSpPr>
        <p:spPr>
          <a:xfrm>
            <a:off x="713232" y="3749040"/>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Compliance posture</a:t>
            </a:r>
            <a:endParaRPr lang="en-US" sz="1000" dirty="0"/>
          </a:p>
        </p:txBody>
      </p:sp>
      <p:sp>
        <p:nvSpPr>
          <p:cNvPr id="37" name="Text 35"/>
          <p:cNvSpPr/>
          <p:nvPr/>
        </p:nvSpPr>
        <p:spPr>
          <a:xfrm>
            <a:off x="2907792" y="3749040"/>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Matches the original proposal - "isolated VDI workstations" for Reg S-P §248.30(a).</a:t>
            </a:r>
            <a:endParaRPr lang="en-US" sz="1000" dirty="0"/>
          </a:p>
        </p:txBody>
      </p:sp>
      <p:sp>
        <p:nvSpPr>
          <p:cNvPr id="38" name="Text 36"/>
          <p:cNvSpPr/>
          <p:nvPr/>
        </p:nvSpPr>
        <p:spPr>
          <a:xfrm>
            <a:off x="6473952" y="3749040"/>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Weakens isolation for a population where every user handles regulated customer data.</a:t>
            </a:r>
            <a:endParaRPr lang="en-US" sz="1000" dirty="0"/>
          </a:p>
        </p:txBody>
      </p:sp>
      <p:sp>
        <p:nvSpPr>
          <p:cNvPr id="39" name="Shape 37"/>
          <p:cNvSpPr/>
          <p:nvPr/>
        </p:nvSpPr>
        <p:spPr>
          <a:xfrm>
            <a:off x="640080" y="4288536"/>
            <a:ext cx="10698480" cy="603504"/>
          </a:xfrm>
          <a:prstGeom prst="rect">
            <a:avLst/>
          </a:prstGeom>
          <a:solidFill>
            <a:srgbClr val="EEF2F7"/>
          </a:solidFill>
          <a:ln w="12700">
            <a:solidFill>
              <a:srgbClr val="D8E0EA"/>
            </a:solidFill>
            <a:prstDash val="solid"/>
          </a:ln>
        </p:spPr>
      </p:sp>
      <p:sp>
        <p:nvSpPr>
          <p:cNvPr id="40" name="Text 38"/>
          <p:cNvSpPr/>
          <p:nvPr/>
        </p:nvSpPr>
        <p:spPr>
          <a:xfrm>
            <a:off x="713232" y="4370832"/>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Blast radius</a:t>
            </a:r>
            <a:endParaRPr lang="en-US" sz="1000" dirty="0"/>
          </a:p>
        </p:txBody>
      </p:sp>
      <p:sp>
        <p:nvSpPr>
          <p:cNvPr id="41" name="Text 39"/>
          <p:cNvSpPr/>
          <p:nvPr/>
        </p:nvSpPr>
        <p:spPr>
          <a:xfrm>
            <a:off x="2907792" y="4370832"/>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A compromised session is contained to one VM.</a:t>
            </a:r>
            <a:endParaRPr lang="en-US" sz="1000" dirty="0"/>
          </a:p>
        </p:txBody>
      </p:sp>
      <p:sp>
        <p:nvSpPr>
          <p:cNvPr id="42" name="Text 40"/>
          <p:cNvSpPr/>
          <p:nvPr/>
        </p:nvSpPr>
        <p:spPr>
          <a:xfrm>
            <a:off x="6473952" y="4370832"/>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Kernel, RDS, or profile misconfiguration on the host can affect every user at once.</a:t>
            </a:r>
            <a:endParaRPr lang="en-US" sz="1000" dirty="0"/>
          </a:p>
        </p:txBody>
      </p:sp>
      <p:sp>
        <p:nvSpPr>
          <p:cNvPr id="43" name="Shape 41"/>
          <p:cNvSpPr/>
          <p:nvPr/>
        </p:nvSpPr>
        <p:spPr>
          <a:xfrm>
            <a:off x="640080" y="4910328"/>
            <a:ext cx="10698480" cy="603504"/>
          </a:xfrm>
          <a:prstGeom prst="rect">
            <a:avLst/>
          </a:prstGeom>
          <a:solidFill>
            <a:srgbClr val="FFFFFF"/>
          </a:solidFill>
          <a:ln w="12700">
            <a:solidFill>
              <a:srgbClr val="D8E0EA"/>
            </a:solidFill>
            <a:prstDash val="solid"/>
          </a:ln>
        </p:spPr>
      </p:sp>
      <p:sp>
        <p:nvSpPr>
          <p:cNvPr id="44" name="Text 42"/>
          <p:cNvSpPr/>
          <p:nvPr/>
        </p:nvSpPr>
        <p:spPr>
          <a:xfrm>
            <a:off x="713232" y="4992624"/>
            <a:ext cx="2002536" cy="457200"/>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Cost per user</a:t>
            </a:r>
            <a:endParaRPr lang="en-US" sz="1000" dirty="0"/>
          </a:p>
        </p:txBody>
      </p:sp>
      <p:sp>
        <p:nvSpPr>
          <p:cNvPr id="45" name="Text 43"/>
          <p:cNvSpPr/>
          <p:nvPr/>
        </p:nvSpPr>
        <p:spPr>
          <a:xfrm>
            <a:off x="2907792" y="4992624"/>
            <a:ext cx="33284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Higher - one persistent workstation per user (cost delta for 7 users is modest).</a:t>
            </a:r>
            <a:endParaRPr lang="en-US" sz="1000" dirty="0"/>
          </a:p>
        </p:txBody>
      </p:sp>
      <p:sp>
        <p:nvSpPr>
          <p:cNvPr id="46" name="Text 44"/>
          <p:cNvSpPr/>
          <p:nvPr/>
        </p:nvSpPr>
        <p:spPr>
          <a:xfrm>
            <a:off x="6473952" y="4992624"/>
            <a:ext cx="4928616" cy="457200"/>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Lower - savings come from sharing one OS instance across all users.</a:t>
            </a:r>
            <a:endParaRPr lang="en-US" sz="1000" dirty="0"/>
          </a:p>
        </p:txBody>
      </p:sp>
      <p:sp>
        <p:nvSpPr>
          <p:cNvPr id="47" name="Shape 45"/>
          <p:cNvSpPr/>
          <p:nvPr/>
        </p:nvSpPr>
        <p:spPr>
          <a:xfrm>
            <a:off x="685800" y="5715000"/>
            <a:ext cx="11064240" cy="411480"/>
          </a:xfrm>
          <a:prstGeom prst="roundRect">
            <a:avLst>
              <a:gd name="adj" fmla="val 8889"/>
            </a:avLst>
          </a:prstGeom>
          <a:solidFill>
            <a:srgbClr val="FFF1EA"/>
          </a:solidFill>
          <a:ln w="12700">
            <a:solidFill>
              <a:srgbClr val="F67D4B"/>
            </a:solidFill>
            <a:prstDash val="solid"/>
          </a:ln>
        </p:spPr>
      </p:sp>
      <p:sp>
        <p:nvSpPr>
          <p:cNvPr id="48" name="Text 46"/>
          <p:cNvSpPr/>
          <p:nvPr/>
        </p:nvSpPr>
        <p:spPr>
          <a:xfrm>
            <a:off x="868680" y="5815584"/>
            <a:ext cx="10698480" cy="201168"/>
          </a:xfrm>
          <a:prstGeom prst="rect">
            <a:avLst/>
          </a:prstGeom>
          <a:noFill/>
          <a:ln/>
        </p:spPr>
        <p:txBody>
          <a:bodyPr wrap="square" lIns="0" tIns="0" rIns="0" bIns="0"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Recommendation: Dedicated Technijian Horizon VDI workstations for the 7 in-scope roles. Preserves the hypervisor-level isolation the original proposal committed to for Reg S-P §248.30(a).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ACCESS BOUNDARY</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MFA Is Necessary But Not Sufficient - IP Whitelisting Closes The Real Gap</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Without conditional access, a user at home on a personal laptop can still MFA into OneDrive or a custodian portal and exfiltrate data.</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7</a:t>
            </a:r>
            <a:endParaRPr lang="en-US" sz="1000" dirty="0"/>
          </a:p>
        </p:txBody>
      </p:sp>
      <p:sp>
        <p:nvSpPr>
          <p:cNvPr id="23" name="Shape 21"/>
          <p:cNvSpPr/>
          <p:nvPr/>
        </p:nvSpPr>
        <p:spPr>
          <a:xfrm>
            <a:off x="594360" y="2103120"/>
            <a:ext cx="3657600" cy="3977640"/>
          </a:xfrm>
          <a:prstGeom prst="roundRect">
            <a:avLst>
              <a:gd name="adj" fmla="val 2000"/>
            </a:avLst>
          </a:prstGeom>
          <a:solidFill>
            <a:srgbClr val="EAF4FB"/>
          </a:solidFill>
          <a:ln w="12700">
            <a:solidFill>
              <a:srgbClr val="006DB6"/>
            </a:solidFill>
            <a:prstDash val="solid"/>
          </a:ln>
        </p:spPr>
      </p:sp>
      <p:sp>
        <p:nvSpPr>
          <p:cNvPr id="24" name="Shape 22"/>
          <p:cNvSpPr/>
          <p:nvPr/>
        </p:nvSpPr>
        <p:spPr>
          <a:xfrm>
            <a:off x="594360" y="2103120"/>
            <a:ext cx="3657600" cy="91440"/>
          </a:xfrm>
          <a:prstGeom prst="rect">
            <a:avLst/>
          </a:prstGeom>
          <a:solidFill>
            <a:srgbClr val="006DB6"/>
          </a:solidFill>
          <a:ln w="12700">
            <a:solidFill>
              <a:srgbClr val="006DB6">
                <a:alpha val="0"/>
              </a:srgbClr>
            </a:solidFill>
            <a:prstDash val="solid"/>
          </a:ln>
        </p:spPr>
      </p:sp>
      <p:sp>
        <p:nvSpPr>
          <p:cNvPr id="25" name="Text 23"/>
          <p:cNvSpPr/>
          <p:nvPr/>
        </p:nvSpPr>
        <p:spPr>
          <a:xfrm>
            <a:off x="758952" y="2286000"/>
            <a:ext cx="33284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LAYER 1</a:t>
            </a:r>
            <a:endParaRPr lang="en-US" sz="900" dirty="0"/>
          </a:p>
        </p:txBody>
      </p:sp>
      <p:sp>
        <p:nvSpPr>
          <p:cNvPr id="26" name="Text 24"/>
          <p:cNvSpPr/>
          <p:nvPr/>
        </p:nvSpPr>
        <p:spPr>
          <a:xfrm>
            <a:off x="758952"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MFA on Every Portal</a:t>
            </a:r>
            <a:endParaRPr lang="en-US" sz="1600" dirty="0"/>
          </a:p>
        </p:txBody>
      </p:sp>
      <p:sp>
        <p:nvSpPr>
          <p:cNvPr id="27" name="Text 25"/>
          <p:cNvSpPr/>
          <p:nvPr/>
        </p:nvSpPr>
        <p:spPr>
          <a:xfrm>
            <a:off x="758952" y="2889504"/>
            <a:ext cx="33284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M365 MFA is in place. The gap is every non-M365 portal: custodian bank platforms, trading systems, CRM, third-party SaaS.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The SSO/2FA gateway puts every regulated portal behind enforced, logged MFA with auditable session records.</a:t>
            </a:r>
            <a:endParaRPr lang="en-US" sz="1050" dirty="0"/>
          </a:p>
        </p:txBody>
      </p:sp>
      <p:sp>
        <p:nvSpPr>
          <p:cNvPr id="28" name="Text 26"/>
          <p:cNvSpPr/>
          <p:nvPr/>
        </p:nvSpPr>
        <p:spPr>
          <a:xfrm>
            <a:off x="758952" y="5733288"/>
            <a:ext cx="332841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Reg S-P §248.30 (2024); NIST IA-2(1)</a:t>
            </a:r>
            <a:endParaRPr lang="en-US" sz="900" dirty="0"/>
          </a:p>
        </p:txBody>
      </p:sp>
      <p:sp>
        <p:nvSpPr>
          <p:cNvPr id="29" name="Shape 27"/>
          <p:cNvSpPr/>
          <p:nvPr/>
        </p:nvSpPr>
        <p:spPr>
          <a:xfrm>
            <a:off x="4416552" y="2103120"/>
            <a:ext cx="3657600" cy="3977640"/>
          </a:xfrm>
          <a:prstGeom prst="roundRect">
            <a:avLst>
              <a:gd name="adj" fmla="val 2000"/>
            </a:avLst>
          </a:prstGeom>
          <a:solidFill>
            <a:srgbClr val="E8F8FB"/>
          </a:solidFill>
          <a:ln w="12700">
            <a:solidFill>
              <a:srgbClr val="1EAAC8"/>
            </a:solidFill>
            <a:prstDash val="solid"/>
          </a:ln>
        </p:spPr>
      </p:sp>
      <p:sp>
        <p:nvSpPr>
          <p:cNvPr id="30" name="Shape 28"/>
          <p:cNvSpPr/>
          <p:nvPr/>
        </p:nvSpPr>
        <p:spPr>
          <a:xfrm>
            <a:off x="4416552" y="2103120"/>
            <a:ext cx="3657600" cy="91440"/>
          </a:xfrm>
          <a:prstGeom prst="rect">
            <a:avLst/>
          </a:prstGeom>
          <a:solidFill>
            <a:srgbClr val="1EAAC8"/>
          </a:solidFill>
          <a:ln w="12700">
            <a:solidFill>
              <a:srgbClr val="1EAAC8">
                <a:alpha val="0"/>
              </a:srgbClr>
            </a:solidFill>
            <a:prstDash val="solid"/>
          </a:ln>
        </p:spPr>
      </p:sp>
      <p:sp>
        <p:nvSpPr>
          <p:cNvPr id="31" name="Text 29"/>
          <p:cNvSpPr/>
          <p:nvPr/>
        </p:nvSpPr>
        <p:spPr>
          <a:xfrm>
            <a:off x="4581144" y="2286000"/>
            <a:ext cx="332841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LAYER 2</a:t>
            </a:r>
            <a:endParaRPr lang="en-US" sz="900" dirty="0"/>
          </a:p>
        </p:txBody>
      </p:sp>
      <p:sp>
        <p:nvSpPr>
          <p:cNvPr id="32" name="Text 30"/>
          <p:cNvSpPr/>
          <p:nvPr/>
        </p:nvSpPr>
        <p:spPr>
          <a:xfrm>
            <a:off x="4581144"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Office-IP Whitelist</a:t>
            </a:r>
            <a:endParaRPr lang="en-US" sz="1600" dirty="0"/>
          </a:p>
        </p:txBody>
      </p:sp>
      <p:sp>
        <p:nvSpPr>
          <p:cNvPr id="33" name="Text 31"/>
          <p:cNvSpPr/>
          <p:nvPr/>
        </p:nvSpPr>
        <p:spPr>
          <a:xfrm>
            <a:off x="4581144" y="2889504"/>
            <a:ext cx="33284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IP whitelist policy restricts M365, OneDrive, and every custodian portal to the office IP or Horizon VDI egress IP only.</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A user at home on a personal laptop cannot reach client data - even with valid credentials and MFA. This closes the personal-device exfiltration vector.</a:t>
            </a:r>
            <a:endParaRPr lang="en-US" sz="1050" dirty="0"/>
          </a:p>
        </p:txBody>
      </p:sp>
      <p:sp>
        <p:nvSpPr>
          <p:cNvPr id="34" name="Text 32"/>
          <p:cNvSpPr/>
          <p:nvPr/>
        </p:nvSpPr>
        <p:spPr>
          <a:xfrm>
            <a:off x="4581144" y="5733288"/>
            <a:ext cx="332841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Reg S-P §248.30(a)(3); NIST AC-3, AC-17</a:t>
            </a:r>
            <a:endParaRPr lang="en-US" sz="900" dirty="0"/>
          </a:p>
        </p:txBody>
      </p:sp>
      <p:sp>
        <p:nvSpPr>
          <p:cNvPr id="35" name="Shape 33"/>
          <p:cNvSpPr/>
          <p:nvPr/>
        </p:nvSpPr>
        <p:spPr>
          <a:xfrm>
            <a:off x="8238744" y="2103120"/>
            <a:ext cx="3337560" cy="3977640"/>
          </a:xfrm>
          <a:prstGeom prst="roundRect">
            <a:avLst>
              <a:gd name="adj" fmla="val 2192"/>
            </a:avLst>
          </a:prstGeom>
          <a:solidFill>
            <a:srgbClr val="FFF1EA"/>
          </a:solidFill>
          <a:ln w="12700">
            <a:solidFill>
              <a:srgbClr val="F67D4B"/>
            </a:solidFill>
            <a:prstDash val="solid"/>
          </a:ln>
        </p:spPr>
      </p:sp>
      <p:sp>
        <p:nvSpPr>
          <p:cNvPr id="36" name="Shape 34"/>
          <p:cNvSpPr/>
          <p:nvPr/>
        </p:nvSpPr>
        <p:spPr>
          <a:xfrm>
            <a:off x="8238744" y="2103120"/>
            <a:ext cx="3337560" cy="91440"/>
          </a:xfrm>
          <a:prstGeom prst="rect">
            <a:avLst/>
          </a:prstGeom>
          <a:solidFill>
            <a:srgbClr val="F67D4B"/>
          </a:solidFill>
          <a:ln w="12700">
            <a:solidFill>
              <a:srgbClr val="F67D4B">
                <a:alpha val="0"/>
              </a:srgbClr>
            </a:solidFill>
            <a:prstDash val="solid"/>
          </a:ln>
        </p:spPr>
      </p:sp>
      <p:sp>
        <p:nvSpPr>
          <p:cNvPr id="37" name="Text 35"/>
          <p:cNvSpPr/>
          <p:nvPr/>
        </p:nvSpPr>
        <p:spPr>
          <a:xfrm>
            <a:off x="8403336" y="2286000"/>
            <a:ext cx="300837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LAYER 3</a:t>
            </a:r>
            <a:endParaRPr lang="en-US" sz="900" dirty="0"/>
          </a:p>
        </p:txBody>
      </p:sp>
      <p:sp>
        <p:nvSpPr>
          <p:cNvPr id="38" name="Text 36"/>
          <p:cNvSpPr/>
          <p:nvPr/>
        </p:nvSpPr>
        <p:spPr>
          <a:xfrm>
            <a:off x="8403336" y="2505456"/>
            <a:ext cx="300837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Device Compliance</a:t>
            </a:r>
            <a:endParaRPr lang="en-US" sz="1600" dirty="0"/>
          </a:p>
        </p:txBody>
      </p:sp>
      <p:sp>
        <p:nvSpPr>
          <p:cNvPr id="39" name="Text 37"/>
          <p:cNvSpPr/>
          <p:nvPr/>
        </p:nvSpPr>
        <p:spPr>
          <a:xfrm>
            <a:off x="8403336" y="2889504"/>
            <a:ext cx="300837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Technijian-managed endpoint with device-compliance policy gates access behind "managed + compliant device" checks.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Combined with IP whitelist, access requires: right user + MFA + office network + Technijian-managed device.</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This is the four-factor boundary a Reg S-P examination expects.</a:t>
            </a:r>
            <a:endParaRPr lang="en-US" sz="1050" dirty="0"/>
          </a:p>
        </p:txBody>
      </p:sp>
      <p:sp>
        <p:nvSpPr>
          <p:cNvPr id="40" name="Text 38"/>
          <p:cNvSpPr/>
          <p:nvPr/>
        </p:nvSpPr>
        <p:spPr>
          <a:xfrm>
            <a:off x="8403336" y="5733288"/>
            <a:ext cx="300837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Reg S-P §248.30(a); NIST AC-3, CM-8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ENDPOINT DLP</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MyAudit Controls The Device - M365 DLP Controls The Cloud</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Complementary layers, not duplicative. Removing either leaves a gap cited in recent SEC exam letters.</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8</a:t>
            </a:r>
            <a:endParaRPr lang="en-US" sz="1000" dirty="0"/>
          </a:p>
        </p:txBody>
      </p:sp>
      <p:sp>
        <p:nvSpPr>
          <p:cNvPr id="23" name="Shape 21"/>
          <p:cNvSpPr/>
          <p:nvPr/>
        </p:nvSpPr>
        <p:spPr>
          <a:xfrm>
            <a:off x="502920" y="2057400"/>
            <a:ext cx="11155680" cy="347472"/>
          </a:xfrm>
          <a:prstGeom prst="roundRect">
            <a:avLst>
              <a:gd name="adj" fmla="val 7895"/>
            </a:avLst>
          </a:prstGeom>
          <a:solidFill>
            <a:srgbClr val="1EAAC8"/>
          </a:solidFill>
          <a:ln w="12700">
            <a:solidFill>
              <a:srgbClr val="1EAAC8">
                <a:alpha val="0"/>
              </a:srgbClr>
            </a:solidFill>
            <a:prstDash val="solid"/>
          </a:ln>
        </p:spPr>
      </p:sp>
      <p:sp>
        <p:nvSpPr>
          <p:cNvPr id="24" name="Text 22"/>
          <p:cNvSpPr/>
          <p:nvPr/>
        </p:nvSpPr>
        <p:spPr>
          <a:xfrm>
            <a:off x="576072" y="2130552"/>
            <a:ext cx="35112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Data Movement Path</a:t>
            </a:r>
            <a:endParaRPr lang="en-US" sz="900" dirty="0"/>
          </a:p>
        </p:txBody>
      </p:sp>
      <p:sp>
        <p:nvSpPr>
          <p:cNvPr id="25" name="Text 23"/>
          <p:cNvSpPr/>
          <p:nvPr/>
        </p:nvSpPr>
        <p:spPr>
          <a:xfrm>
            <a:off x="4233672" y="2130552"/>
            <a:ext cx="35112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M365 E3 DLP Coverage</a:t>
            </a:r>
            <a:endParaRPr lang="en-US" sz="900" dirty="0"/>
          </a:p>
        </p:txBody>
      </p:sp>
      <p:sp>
        <p:nvSpPr>
          <p:cNvPr id="26" name="Text 24"/>
          <p:cNvSpPr/>
          <p:nvPr/>
        </p:nvSpPr>
        <p:spPr>
          <a:xfrm>
            <a:off x="7891272" y="2130552"/>
            <a:ext cx="369417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MyAudit Coverage</a:t>
            </a:r>
            <a:endParaRPr lang="en-US" sz="900" dirty="0"/>
          </a:p>
        </p:txBody>
      </p:sp>
      <p:sp>
        <p:nvSpPr>
          <p:cNvPr id="27" name="Shape 25"/>
          <p:cNvSpPr/>
          <p:nvPr/>
        </p:nvSpPr>
        <p:spPr>
          <a:xfrm>
            <a:off x="502920" y="2423160"/>
            <a:ext cx="11155680" cy="438912"/>
          </a:xfrm>
          <a:prstGeom prst="rect">
            <a:avLst/>
          </a:prstGeom>
          <a:solidFill>
            <a:srgbClr val="FFFFFF"/>
          </a:solidFill>
          <a:ln w="12700">
            <a:solidFill>
              <a:srgbClr val="D8E0EA"/>
            </a:solidFill>
            <a:prstDash val="solid"/>
          </a:ln>
        </p:spPr>
      </p:sp>
      <p:sp>
        <p:nvSpPr>
          <p:cNvPr id="28" name="Text 26"/>
          <p:cNvSpPr/>
          <p:nvPr/>
        </p:nvSpPr>
        <p:spPr>
          <a:xfrm>
            <a:off x="576072" y="25054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Download file to local C: drive</a:t>
            </a:r>
            <a:endParaRPr lang="en-US" sz="1000" dirty="0"/>
          </a:p>
        </p:txBody>
      </p:sp>
      <p:sp>
        <p:nvSpPr>
          <p:cNvPr id="29" name="Text 27"/>
          <p:cNvSpPr/>
          <p:nvPr/>
        </p:nvSpPr>
        <p:spPr>
          <a:xfrm>
            <a:off x="4233672" y="25054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30" name="Text 28"/>
          <p:cNvSpPr/>
          <p:nvPr/>
        </p:nvSpPr>
        <p:spPr>
          <a:xfrm>
            <a:off x="7891272" y="25054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31" name="Shape 29"/>
          <p:cNvSpPr/>
          <p:nvPr/>
        </p:nvSpPr>
        <p:spPr>
          <a:xfrm>
            <a:off x="502920" y="2880360"/>
            <a:ext cx="11155680" cy="438912"/>
          </a:xfrm>
          <a:prstGeom prst="rect">
            <a:avLst/>
          </a:prstGeom>
          <a:solidFill>
            <a:srgbClr val="EEF2F7"/>
          </a:solidFill>
          <a:ln w="12700">
            <a:solidFill>
              <a:srgbClr val="D8E0EA"/>
            </a:solidFill>
            <a:prstDash val="solid"/>
          </a:ln>
        </p:spPr>
      </p:sp>
      <p:sp>
        <p:nvSpPr>
          <p:cNvPr id="32" name="Text 30"/>
          <p:cNvSpPr/>
          <p:nvPr/>
        </p:nvSpPr>
        <p:spPr>
          <a:xfrm>
            <a:off x="576072" y="29626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Copy file to USB drive</a:t>
            </a:r>
            <a:endParaRPr lang="en-US" sz="1000" dirty="0"/>
          </a:p>
        </p:txBody>
      </p:sp>
      <p:sp>
        <p:nvSpPr>
          <p:cNvPr id="33" name="Text 31"/>
          <p:cNvSpPr/>
          <p:nvPr/>
        </p:nvSpPr>
        <p:spPr>
          <a:xfrm>
            <a:off x="4233672" y="29626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34" name="Text 32"/>
          <p:cNvSpPr/>
          <p:nvPr/>
        </p:nvSpPr>
        <p:spPr>
          <a:xfrm>
            <a:off x="7891272" y="29626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35" name="Shape 33"/>
          <p:cNvSpPr/>
          <p:nvPr/>
        </p:nvSpPr>
        <p:spPr>
          <a:xfrm>
            <a:off x="502920" y="3337560"/>
            <a:ext cx="11155680" cy="438912"/>
          </a:xfrm>
          <a:prstGeom prst="rect">
            <a:avLst/>
          </a:prstGeom>
          <a:solidFill>
            <a:srgbClr val="FFFFFF"/>
          </a:solidFill>
          <a:ln w="12700">
            <a:solidFill>
              <a:srgbClr val="D8E0EA"/>
            </a:solidFill>
            <a:prstDash val="solid"/>
          </a:ln>
        </p:spPr>
      </p:sp>
      <p:sp>
        <p:nvSpPr>
          <p:cNvPr id="36" name="Text 34"/>
          <p:cNvSpPr/>
          <p:nvPr/>
        </p:nvSpPr>
        <p:spPr>
          <a:xfrm>
            <a:off x="576072" y="34198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Print to local printer</a:t>
            </a:r>
            <a:endParaRPr lang="en-US" sz="1000" dirty="0"/>
          </a:p>
        </p:txBody>
      </p:sp>
      <p:sp>
        <p:nvSpPr>
          <p:cNvPr id="37" name="Text 35"/>
          <p:cNvSpPr/>
          <p:nvPr/>
        </p:nvSpPr>
        <p:spPr>
          <a:xfrm>
            <a:off x="4233672" y="34198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38" name="Text 36"/>
          <p:cNvSpPr/>
          <p:nvPr/>
        </p:nvSpPr>
        <p:spPr>
          <a:xfrm>
            <a:off x="7891272" y="34198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39" name="Shape 37"/>
          <p:cNvSpPr/>
          <p:nvPr/>
        </p:nvSpPr>
        <p:spPr>
          <a:xfrm>
            <a:off x="502920" y="3794760"/>
            <a:ext cx="11155680" cy="438912"/>
          </a:xfrm>
          <a:prstGeom prst="rect">
            <a:avLst/>
          </a:prstGeom>
          <a:solidFill>
            <a:srgbClr val="EEF2F7"/>
          </a:solidFill>
          <a:ln w="12700">
            <a:solidFill>
              <a:srgbClr val="D8E0EA"/>
            </a:solidFill>
            <a:prstDash val="solid"/>
          </a:ln>
        </p:spPr>
      </p:sp>
      <p:sp>
        <p:nvSpPr>
          <p:cNvPr id="40" name="Text 38"/>
          <p:cNvSpPr/>
          <p:nvPr/>
        </p:nvSpPr>
        <p:spPr>
          <a:xfrm>
            <a:off x="576072" y="38770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Copy to clipboard → paste elsewhere</a:t>
            </a:r>
            <a:endParaRPr lang="en-US" sz="1000" dirty="0"/>
          </a:p>
        </p:txBody>
      </p:sp>
      <p:sp>
        <p:nvSpPr>
          <p:cNvPr id="41" name="Text 39"/>
          <p:cNvSpPr/>
          <p:nvPr/>
        </p:nvSpPr>
        <p:spPr>
          <a:xfrm>
            <a:off x="4233672" y="38770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42" name="Text 40"/>
          <p:cNvSpPr/>
          <p:nvPr/>
        </p:nvSpPr>
        <p:spPr>
          <a:xfrm>
            <a:off x="7891272" y="38770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43" name="Shape 41"/>
          <p:cNvSpPr/>
          <p:nvPr/>
        </p:nvSpPr>
        <p:spPr>
          <a:xfrm>
            <a:off x="502920" y="4251960"/>
            <a:ext cx="11155680" cy="438912"/>
          </a:xfrm>
          <a:prstGeom prst="rect">
            <a:avLst/>
          </a:prstGeom>
          <a:solidFill>
            <a:srgbClr val="FFFFFF"/>
          </a:solidFill>
          <a:ln w="12700">
            <a:solidFill>
              <a:srgbClr val="D8E0EA"/>
            </a:solidFill>
            <a:prstDash val="solid"/>
          </a:ln>
        </p:spPr>
      </p:sp>
      <p:sp>
        <p:nvSpPr>
          <p:cNvPr id="44" name="Text 42"/>
          <p:cNvSpPr/>
          <p:nvPr/>
        </p:nvSpPr>
        <p:spPr>
          <a:xfrm>
            <a:off x="576072" y="43342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Screen capture / screenshot</a:t>
            </a:r>
            <a:endParaRPr lang="en-US" sz="1000" dirty="0"/>
          </a:p>
        </p:txBody>
      </p:sp>
      <p:sp>
        <p:nvSpPr>
          <p:cNvPr id="45" name="Text 43"/>
          <p:cNvSpPr/>
          <p:nvPr/>
        </p:nvSpPr>
        <p:spPr>
          <a:xfrm>
            <a:off x="4233672" y="43342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Not covered</a:t>
            </a:r>
            <a:endParaRPr lang="en-US" sz="1000" dirty="0"/>
          </a:p>
        </p:txBody>
      </p:sp>
      <p:sp>
        <p:nvSpPr>
          <p:cNvPr id="46" name="Text 44"/>
          <p:cNvSpPr/>
          <p:nvPr/>
        </p:nvSpPr>
        <p:spPr>
          <a:xfrm>
            <a:off x="7891272" y="43342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47" name="Shape 45"/>
          <p:cNvSpPr/>
          <p:nvPr/>
        </p:nvSpPr>
        <p:spPr>
          <a:xfrm>
            <a:off x="502920" y="4709160"/>
            <a:ext cx="11155680" cy="438912"/>
          </a:xfrm>
          <a:prstGeom prst="rect">
            <a:avLst/>
          </a:prstGeom>
          <a:solidFill>
            <a:srgbClr val="EEF2F7"/>
          </a:solidFill>
          <a:ln w="12700">
            <a:solidFill>
              <a:srgbClr val="D8E0EA"/>
            </a:solidFill>
            <a:prstDash val="solid"/>
          </a:ln>
        </p:spPr>
      </p:sp>
      <p:sp>
        <p:nvSpPr>
          <p:cNvPr id="48" name="Text 46"/>
          <p:cNvSpPr/>
          <p:nvPr/>
        </p:nvSpPr>
        <p:spPr>
          <a:xfrm>
            <a:off x="576072" y="47914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Send via Exchange email</a:t>
            </a:r>
            <a:endParaRPr lang="en-US" sz="1000" dirty="0"/>
          </a:p>
        </p:txBody>
      </p:sp>
      <p:sp>
        <p:nvSpPr>
          <p:cNvPr id="49" name="Text 47"/>
          <p:cNvSpPr/>
          <p:nvPr/>
        </p:nvSpPr>
        <p:spPr>
          <a:xfrm>
            <a:off x="4233672" y="47914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Covered (mail-flow DLP)</a:t>
            </a:r>
            <a:endParaRPr lang="en-US" sz="1000" dirty="0"/>
          </a:p>
        </p:txBody>
      </p:sp>
      <p:sp>
        <p:nvSpPr>
          <p:cNvPr id="50" name="Text 48"/>
          <p:cNvSpPr/>
          <p:nvPr/>
        </p:nvSpPr>
        <p:spPr>
          <a:xfrm>
            <a:off x="7891272" y="47914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N/A (mail is M365)</a:t>
            </a:r>
            <a:endParaRPr lang="en-US" sz="1000" dirty="0"/>
          </a:p>
        </p:txBody>
      </p:sp>
      <p:sp>
        <p:nvSpPr>
          <p:cNvPr id="51" name="Shape 49"/>
          <p:cNvSpPr/>
          <p:nvPr/>
        </p:nvSpPr>
        <p:spPr>
          <a:xfrm>
            <a:off x="502920" y="5166360"/>
            <a:ext cx="11155680" cy="438912"/>
          </a:xfrm>
          <a:prstGeom prst="rect">
            <a:avLst/>
          </a:prstGeom>
          <a:solidFill>
            <a:srgbClr val="FFFFFF"/>
          </a:solidFill>
          <a:ln w="12700">
            <a:solidFill>
              <a:srgbClr val="D8E0EA"/>
            </a:solidFill>
            <a:prstDash val="solid"/>
          </a:ln>
        </p:spPr>
      </p:sp>
      <p:sp>
        <p:nvSpPr>
          <p:cNvPr id="52" name="Text 50"/>
          <p:cNvSpPr/>
          <p:nvPr/>
        </p:nvSpPr>
        <p:spPr>
          <a:xfrm>
            <a:off x="576072" y="52486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Share SharePoint / OneDrive externally</a:t>
            </a:r>
            <a:endParaRPr lang="en-US" sz="1000" dirty="0"/>
          </a:p>
        </p:txBody>
      </p:sp>
      <p:sp>
        <p:nvSpPr>
          <p:cNvPr id="53" name="Text 51"/>
          <p:cNvSpPr/>
          <p:nvPr/>
        </p:nvSpPr>
        <p:spPr>
          <a:xfrm>
            <a:off x="4233672" y="52486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Covered (M365 DLP)</a:t>
            </a:r>
            <a:endParaRPr lang="en-US" sz="1000" dirty="0"/>
          </a:p>
        </p:txBody>
      </p:sp>
      <p:sp>
        <p:nvSpPr>
          <p:cNvPr id="54" name="Text 52"/>
          <p:cNvSpPr/>
          <p:nvPr/>
        </p:nvSpPr>
        <p:spPr>
          <a:xfrm>
            <a:off x="7891272" y="52486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N/A (tenant-side)</a:t>
            </a:r>
            <a:endParaRPr lang="en-US" sz="1000" dirty="0"/>
          </a:p>
        </p:txBody>
      </p:sp>
      <p:sp>
        <p:nvSpPr>
          <p:cNvPr id="55" name="Shape 53"/>
          <p:cNvSpPr/>
          <p:nvPr/>
        </p:nvSpPr>
        <p:spPr>
          <a:xfrm>
            <a:off x="502920" y="5623560"/>
            <a:ext cx="11155680" cy="438912"/>
          </a:xfrm>
          <a:prstGeom prst="rect">
            <a:avLst/>
          </a:prstGeom>
          <a:solidFill>
            <a:srgbClr val="EEF2F7"/>
          </a:solidFill>
          <a:ln w="12700">
            <a:solidFill>
              <a:srgbClr val="D8E0EA"/>
            </a:solidFill>
            <a:prstDash val="solid"/>
          </a:ln>
        </p:spPr>
      </p:sp>
      <p:sp>
        <p:nvSpPr>
          <p:cNvPr id="56" name="Text 54"/>
          <p:cNvSpPr/>
          <p:nvPr/>
        </p:nvSpPr>
        <p:spPr>
          <a:xfrm>
            <a:off x="576072" y="5705856"/>
            <a:ext cx="3511296" cy="292608"/>
          </a:xfrm>
          <a:prstGeom prst="rect">
            <a:avLst/>
          </a:prstGeom>
          <a:noFill/>
          <a:ln/>
        </p:spPr>
        <p:txBody>
          <a:bodyPr wrap="square" lIns="0" tIns="0" rIns="0" bIns="0" rtlCol="0" anchor="ctr"/>
          <a:lstStyle/>
          <a:p>
            <a:pPr indent="0" marL="0">
              <a:buNone/>
            </a:pPr>
            <a:r>
              <a:rPr lang="en-US" sz="1000" b="1" dirty="0">
                <a:solidFill>
                  <a:srgbClr val="334155"/>
                </a:solidFill>
                <a:latin typeface="Arial" pitchFamily="34" charset="0"/>
                <a:ea typeface="Arial" pitchFamily="34" charset="-122"/>
                <a:cs typeface="Arial" pitchFamily="34" charset="-120"/>
              </a:rPr>
              <a:t>Upload to unsanctioned SaaS / browser</a:t>
            </a:r>
            <a:endParaRPr lang="en-US" sz="1000" dirty="0"/>
          </a:p>
        </p:txBody>
      </p:sp>
      <p:sp>
        <p:nvSpPr>
          <p:cNvPr id="57" name="Text 55"/>
          <p:cNvSpPr/>
          <p:nvPr/>
        </p:nvSpPr>
        <p:spPr>
          <a:xfrm>
            <a:off x="4233672" y="5705856"/>
            <a:ext cx="351129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Partial (requires E5 + Defender)</a:t>
            </a:r>
            <a:endParaRPr lang="en-US" sz="1000" dirty="0"/>
          </a:p>
        </p:txBody>
      </p:sp>
      <p:sp>
        <p:nvSpPr>
          <p:cNvPr id="58" name="Text 56"/>
          <p:cNvSpPr/>
          <p:nvPr/>
        </p:nvSpPr>
        <p:spPr>
          <a:xfrm>
            <a:off x="7891272" y="5705856"/>
            <a:ext cx="3694176" cy="29260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Blocked / logged</a:t>
            </a:r>
            <a:endParaRPr lang="en-US" sz="1000" dirty="0"/>
          </a:p>
        </p:txBody>
      </p:sp>
      <p:sp>
        <p:nvSpPr>
          <p:cNvPr id="59" name="Shape 57"/>
          <p:cNvSpPr/>
          <p:nvPr/>
        </p:nvSpPr>
        <p:spPr>
          <a:xfrm>
            <a:off x="502920" y="6172200"/>
            <a:ext cx="11247120" cy="320040"/>
          </a:xfrm>
          <a:prstGeom prst="roundRect">
            <a:avLst>
              <a:gd name="adj" fmla="val 11429"/>
            </a:avLst>
          </a:prstGeom>
          <a:solidFill>
            <a:srgbClr val="EAF4FB"/>
          </a:solidFill>
          <a:ln w="12700">
            <a:solidFill>
              <a:srgbClr val="006DB6"/>
            </a:solidFill>
            <a:prstDash val="solid"/>
          </a:ln>
        </p:spPr>
      </p:sp>
      <p:sp>
        <p:nvSpPr>
          <p:cNvPr id="60" name="Text 58"/>
          <p:cNvSpPr/>
          <p:nvPr/>
        </p:nvSpPr>
        <p:spPr>
          <a:xfrm>
            <a:off x="685800" y="6227064"/>
            <a:ext cx="10881360" cy="219456"/>
          </a:xfrm>
          <a:prstGeom prst="rect">
            <a:avLst/>
          </a:prstGeom>
          <a:noFill/>
          <a:ln/>
        </p:spPr>
        <p:txBody>
          <a:bodyPr wrap="square" lIns="0" tIns="0" rIns="0" bIns="0" rtlCol="0" anchor="ctr"/>
          <a:lstStyle/>
          <a:p>
            <a:pPr algn="ctr" indent="0" marL="0">
              <a:buNone/>
            </a:pPr>
            <a:r>
              <a:rPr lang="en-US" sz="1000" b="1" i="1" dirty="0">
                <a:solidFill>
                  <a:srgbClr val="006DB6"/>
                </a:solidFill>
                <a:latin typeface="Arial" pitchFamily="34" charset="0"/>
                <a:ea typeface="Arial" pitchFamily="34" charset="-122"/>
                <a:cs typeface="Arial" pitchFamily="34" charset="-120"/>
              </a:rPr>
              <a:t>Citation: Reg S-P §248.30(a)(3) - safeguards to prevent unauthorized access or use  |  NIST SP 800-53 AC-19, MP-7, SC-8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TENANT BACKUP</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Veeam Is Full-Tenant Backup - M365 Retention Is Not A Backup</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SEC Rule 17a-4(f) requires non-rewriteable, non-erasable preservation. Microsoft native retention does not meet that standard on its own.</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94360" y="2103120"/>
            <a:ext cx="5486400" cy="3977640"/>
          </a:xfrm>
          <a:prstGeom prst="roundRect">
            <a:avLst>
              <a:gd name="adj" fmla="val 1839"/>
            </a:avLst>
          </a:prstGeom>
          <a:solidFill>
            <a:srgbClr val="FFFFFF"/>
          </a:solidFill>
          <a:ln w="12700">
            <a:solidFill>
              <a:srgbClr val="D8E0EA"/>
            </a:solidFill>
            <a:prstDash val="solid"/>
          </a:ln>
        </p:spPr>
      </p:sp>
      <p:sp>
        <p:nvSpPr>
          <p:cNvPr id="24" name="Shape 22"/>
          <p:cNvSpPr/>
          <p:nvPr/>
        </p:nvSpPr>
        <p:spPr>
          <a:xfrm>
            <a:off x="594360" y="2103120"/>
            <a:ext cx="5486400" cy="91440"/>
          </a:xfrm>
          <a:prstGeom prst="rect">
            <a:avLst/>
          </a:prstGeom>
          <a:solidFill>
            <a:srgbClr val="B42318"/>
          </a:solidFill>
          <a:ln w="12700">
            <a:solidFill>
              <a:srgbClr val="B42318">
                <a:alpha val="0"/>
              </a:srgbClr>
            </a:solidFill>
            <a:prstDash val="solid"/>
          </a:ln>
        </p:spPr>
      </p:sp>
      <p:sp>
        <p:nvSpPr>
          <p:cNvPr id="25" name="Text 23"/>
          <p:cNvSpPr/>
          <p:nvPr/>
        </p:nvSpPr>
        <p:spPr>
          <a:xfrm>
            <a:off x="758952" y="2286000"/>
            <a:ext cx="5157216" cy="201168"/>
          </a:xfrm>
          <a:prstGeom prst="rect">
            <a:avLst/>
          </a:prstGeom>
          <a:noFill/>
          <a:ln/>
        </p:spPr>
        <p:txBody>
          <a:bodyPr wrap="square" lIns="0" tIns="0" rIns="0" bIns="0" rtlCol="0" anchor="ctr"/>
          <a:lstStyle/>
          <a:p>
            <a:pPr indent="0" marL="0">
              <a:buNone/>
            </a:pPr>
            <a:r>
              <a:rPr lang="en-US" sz="900" b="1" dirty="0">
                <a:solidFill>
                  <a:srgbClr val="B42318"/>
                </a:solidFill>
                <a:latin typeface="Arial" pitchFamily="34" charset="0"/>
                <a:ea typeface="Arial" pitchFamily="34" charset="-122"/>
                <a:cs typeface="Arial" pitchFamily="34" charset="-120"/>
              </a:rPr>
              <a:t>WHAT M365 RETENTION DOES NOT COVER</a:t>
            </a:r>
            <a:endParaRPr lang="en-US" sz="900" dirty="0"/>
          </a:p>
        </p:txBody>
      </p:sp>
      <p:sp>
        <p:nvSpPr>
          <p:cNvPr id="26" name="Text 24"/>
          <p:cNvSpPr/>
          <p:nvPr/>
        </p:nvSpPr>
        <p:spPr>
          <a:xfrm>
            <a:off x="758952" y="2889504"/>
            <a:ext cx="51572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 Tenant-level events (malicious admin, account takeover)</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Ransomware encrypting OneDrive / SharePoint via sync</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Accidental or malicious mass deletion across the tenant</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Retention-policy changes that shorten preservation</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Point-in-time restore at item, folder, or site granularity</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SharePoint site recovery after structural damage</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Teams channel, chat, and tab content recovery</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Independent chain-of-custody outside the tenant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Microsoft retention is a policy inside the tenant. If the tenant is the attack surface, retention is not a backup.</a:t>
            </a:r>
            <a:endParaRPr lang="en-US" sz="1050" dirty="0"/>
          </a:p>
        </p:txBody>
      </p:sp>
      <p:sp>
        <p:nvSpPr>
          <p:cNvPr id="27" name="Text 25"/>
          <p:cNvSpPr/>
          <p:nvPr/>
        </p:nvSpPr>
        <p:spPr>
          <a:xfrm>
            <a:off x="758952" y="5733288"/>
            <a:ext cx="5157216" cy="256032"/>
          </a:xfrm>
          <a:prstGeom prst="rect">
            <a:avLst/>
          </a:prstGeom>
          <a:noFill/>
          <a:ln/>
        </p:spPr>
        <p:txBody>
          <a:bodyPr wrap="square" lIns="0" tIns="0" rIns="0" bIns="0" rtlCol="0" anchor="ctr"/>
          <a:lstStyle/>
          <a:p>
            <a:pPr indent="0" marL="0">
              <a:buNone/>
            </a:pPr>
            <a:r>
              <a:rPr lang="en-US" sz="900" b="1" i="1" dirty="0">
                <a:solidFill>
                  <a:srgbClr val="B42318"/>
                </a:solidFill>
                <a:latin typeface="Arial" pitchFamily="34" charset="0"/>
                <a:ea typeface="Arial" pitchFamily="34" charset="-122"/>
                <a:cs typeface="Arial" pitchFamily="34" charset="-120"/>
              </a:rPr>
              <a:t>SEC Rule 17a-4(f); FINRA 4511</a:t>
            </a:r>
            <a:endParaRPr lang="en-US" sz="900" dirty="0"/>
          </a:p>
        </p:txBody>
      </p:sp>
      <p:sp>
        <p:nvSpPr>
          <p:cNvPr id="28" name="Shape 26"/>
          <p:cNvSpPr/>
          <p:nvPr/>
        </p:nvSpPr>
        <p:spPr>
          <a:xfrm>
            <a:off x="6263640" y="2103120"/>
            <a:ext cx="5486400" cy="3977640"/>
          </a:xfrm>
          <a:prstGeom prst="roundRect">
            <a:avLst>
              <a:gd name="adj" fmla="val 1839"/>
            </a:avLst>
          </a:prstGeom>
          <a:solidFill>
            <a:srgbClr val="FFFFFF"/>
          </a:solidFill>
          <a:ln w="12700">
            <a:solidFill>
              <a:srgbClr val="D8E0EA"/>
            </a:solidFill>
            <a:prstDash val="solid"/>
          </a:ln>
        </p:spPr>
      </p:sp>
      <p:sp>
        <p:nvSpPr>
          <p:cNvPr id="29" name="Shape 27"/>
          <p:cNvSpPr/>
          <p:nvPr/>
        </p:nvSpPr>
        <p:spPr>
          <a:xfrm>
            <a:off x="6263640" y="2103120"/>
            <a:ext cx="5486400" cy="91440"/>
          </a:xfrm>
          <a:prstGeom prst="rect">
            <a:avLst/>
          </a:prstGeom>
          <a:solidFill>
            <a:srgbClr val="006DB6"/>
          </a:solidFill>
          <a:ln w="12700">
            <a:solidFill>
              <a:srgbClr val="006DB6">
                <a:alpha val="0"/>
              </a:srgbClr>
            </a:solidFill>
            <a:prstDash val="solid"/>
          </a:ln>
        </p:spPr>
      </p:sp>
      <p:sp>
        <p:nvSpPr>
          <p:cNvPr id="30" name="Text 28"/>
          <p:cNvSpPr/>
          <p:nvPr/>
        </p:nvSpPr>
        <p:spPr>
          <a:xfrm>
            <a:off x="6428232" y="2286000"/>
            <a:ext cx="51572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WHAT VEEAM BACKUP FOR M365 ADDS</a:t>
            </a:r>
            <a:endParaRPr lang="en-US" sz="900" dirty="0"/>
          </a:p>
        </p:txBody>
      </p:sp>
      <p:sp>
        <p:nvSpPr>
          <p:cNvPr id="31" name="Text 29"/>
          <p:cNvSpPr/>
          <p:nvPr/>
        </p:nvSpPr>
        <p:spPr>
          <a:xfrm>
            <a:off x="6428232" y="2889504"/>
            <a:ext cx="5157216" cy="277977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 Full tenant backup: Exchange, SharePoint, OneDrive, Teams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Immutable off-tenant storage (WORM-capable)</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Granular restore to item, folder, mailbox, or site level</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Point-in-time recovery for ransomware scenarios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Independent encryption keys and access controls</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Restore to alternate tenant for DR</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Evidence chain suitable for 17a-4(f) attestation</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The $100/month storage line is the backup repository. Not duplicative of M365 retention - it is the control that makes 17a-4(f) defensible.</a:t>
            </a:r>
            <a:endParaRPr lang="en-US" sz="1050" dirty="0"/>
          </a:p>
        </p:txBody>
      </p:sp>
      <p:sp>
        <p:nvSpPr>
          <p:cNvPr id="32" name="Text 30"/>
          <p:cNvSpPr/>
          <p:nvPr/>
        </p:nvSpPr>
        <p:spPr>
          <a:xfrm>
            <a:off x="6428232" y="5733288"/>
            <a:ext cx="515721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SEC Rule 17a-4(b),(f); FINRA 4511; Reg S-P availability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DRIFT DETECTION</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Monthly Site And M365 Assessment - Why Monthly For A Regulated Firm</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FINRA 3110(c) requires internal inspections. Cadence should reflect how quickly configuration can drift.</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10</a:t>
            </a:r>
            <a:endParaRPr lang="en-US" sz="1000" dirty="0"/>
          </a:p>
        </p:txBody>
      </p:sp>
      <p:sp>
        <p:nvSpPr>
          <p:cNvPr id="23" name="Shape 21"/>
          <p:cNvSpPr/>
          <p:nvPr/>
        </p:nvSpPr>
        <p:spPr>
          <a:xfrm>
            <a:off x="594360" y="2103120"/>
            <a:ext cx="3657600" cy="3657600"/>
          </a:xfrm>
          <a:prstGeom prst="roundRect">
            <a:avLst>
              <a:gd name="adj" fmla="val 2000"/>
            </a:avLst>
          </a:prstGeom>
          <a:solidFill>
            <a:srgbClr val="E8F8FB"/>
          </a:solidFill>
          <a:ln w="12700">
            <a:solidFill>
              <a:srgbClr val="1EAAC8"/>
            </a:solidFill>
            <a:prstDash val="solid"/>
          </a:ln>
        </p:spPr>
      </p:sp>
      <p:sp>
        <p:nvSpPr>
          <p:cNvPr id="24" name="Shape 22"/>
          <p:cNvSpPr/>
          <p:nvPr/>
        </p:nvSpPr>
        <p:spPr>
          <a:xfrm>
            <a:off x="594360" y="2103120"/>
            <a:ext cx="3657600" cy="91440"/>
          </a:xfrm>
          <a:prstGeom prst="rect">
            <a:avLst/>
          </a:prstGeom>
          <a:solidFill>
            <a:srgbClr val="1EAAC8"/>
          </a:solidFill>
          <a:ln w="12700">
            <a:solidFill>
              <a:srgbClr val="1EAAC8">
                <a:alpha val="0"/>
              </a:srgbClr>
            </a:solidFill>
            <a:prstDash val="solid"/>
          </a:ln>
        </p:spPr>
      </p:sp>
      <p:sp>
        <p:nvSpPr>
          <p:cNvPr id="25" name="Text 23"/>
          <p:cNvSpPr/>
          <p:nvPr/>
        </p:nvSpPr>
        <p:spPr>
          <a:xfrm>
            <a:off x="758952" y="2286000"/>
            <a:ext cx="332841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RECOMMENDED</a:t>
            </a:r>
            <a:endParaRPr lang="en-US" sz="900" dirty="0"/>
          </a:p>
        </p:txBody>
      </p:sp>
      <p:sp>
        <p:nvSpPr>
          <p:cNvPr id="26" name="Text 24"/>
          <p:cNvSpPr/>
          <p:nvPr/>
        </p:nvSpPr>
        <p:spPr>
          <a:xfrm>
            <a:off x="758952"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$50 / month</a:t>
            </a:r>
            <a:endParaRPr lang="en-US" sz="1600" dirty="0"/>
          </a:p>
        </p:txBody>
      </p:sp>
      <p:sp>
        <p:nvSpPr>
          <p:cNvPr id="27" name="Text 25"/>
          <p:cNvSpPr/>
          <p:nvPr/>
        </p:nvSpPr>
        <p:spPr>
          <a:xfrm>
            <a:off x="758952" y="2889504"/>
            <a:ext cx="3328416" cy="24597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Monthly Technijian assessment of physical site controls and M365 tenant settings.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Covers: DLP policy state, IP whitelist rules, MFA enforcement, managed-endpoint compliance, audit log retention, backup job health, privileged role membership.</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Monthly evidence packet is the cleanest answer to a FINRA 3110(c) internal-inspection request.</a:t>
            </a:r>
            <a:endParaRPr lang="en-US" sz="1050" dirty="0"/>
          </a:p>
        </p:txBody>
      </p:sp>
      <p:sp>
        <p:nvSpPr>
          <p:cNvPr id="28" name="Text 26"/>
          <p:cNvSpPr/>
          <p:nvPr/>
        </p:nvSpPr>
        <p:spPr>
          <a:xfrm>
            <a:off x="758952" y="5413248"/>
            <a:ext cx="332841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FINRA 3110(c); FINRA 3120</a:t>
            </a:r>
            <a:endParaRPr lang="en-US" sz="900" dirty="0"/>
          </a:p>
        </p:txBody>
      </p:sp>
      <p:sp>
        <p:nvSpPr>
          <p:cNvPr id="29" name="Shape 27"/>
          <p:cNvSpPr/>
          <p:nvPr/>
        </p:nvSpPr>
        <p:spPr>
          <a:xfrm>
            <a:off x="4416552" y="2103120"/>
            <a:ext cx="3657600" cy="3657600"/>
          </a:xfrm>
          <a:prstGeom prst="roundRect">
            <a:avLst>
              <a:gd name="adj" fmla="val 2000"/>
            </a:avLst>
          </a:prstGeom>
          <a:solidFill>
            <a:srgbClr val="FFF1EA"/>
          </a:solidFill>
          <a:ln w="12700">
            <a:solidFill>
              <a:srgbClr val="F67D4B"/>
            </a:solidFill>
            <a:prstDash val="solid"/>
          </a:ln>
        </p:spPr>
      </p:sp>
      <p:sp>
        <p:nvSpPr>
          <p:cNvPr id="30" name="Shape 28"/>
          <p:cNvSpPr/>
          <p:nvPr/>
        </p:nvSpPr>
        <p:spPr>
          <a:xfrm>
            <a:off x="4416552" y="2103120"/>
            <a:ext cx="3657600" cy="91440"/>
          </a:xfrm>
          <a:prstGeom prst="rect">
            <a:avLst/>
          </a:prstGeom>
          <a:solidFill>
            <a:srgbClr val="F67D4B"/>
          </a:solidFill>
          <a:ln w="12700">
            <a:solidFill>
              <a:srgbClr val="F67D4B">
                <a:alpha val="0"/>
              </a:srgbClr>
            </a:solidFill>
            <a:prstDash val="solid"/>
          </a:ln>
        </p:spPr>
      </p:sp>
      <p:sp>
        <p:nvSpPr>
          <p:cNvPr id="31" name="Text 29"/>
          <p:cNvSpPr/>
          <p:nvPr/>
        </p:nvSpPr>
        <p:spPr>
          <a:xfrm>
            <a:off x="4581144" y="2286000"/>
            <a:ext cx="332841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ALTERNATIVE</a:t>
            </a:r>
            <a:endParaRPr lang="en-US" sz="900" dirty="0"/>
          </a:p>
        </p:txBody>
      </p:sp>
      <p:sp>
        <p:nvSpPr>
          <p:cNvPr id="32" name="Text 30"/>
          <p:cNvSpPr/>
          <p:nvPr/>
        </p:nvSpPr>
        <p:spPr>
          <a:xfrm>
            <a:off x="4581144" y="2505456"/>
            <a:ext cx="33284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$250 / quarter</a:t>
            </a:r>
            <a:endParaRPr lang="en-US" sz="1600" dirty="0"/>
          </a:p>
        </p:txBody>
      </p:sp>
      <p:sp>
        <p:nvSpPr>
          <p:cNvPr id="33" name="Text 31"/>
          <p:cNvSpPr/>
          <p:nvPr/>
        </p:nvSpPr>
        <p:spPr>
          <a:xfrm>
            <a:off x="4581144" y="2889504"/>
            <a:ext cx="3328416" cy="24597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Quarterly cadence if AFFG prefers lower steady-state cost.</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Pricing reflects the full labor cycle each quarter: install assessment tooling, scan, review findings, produce evidence packet, uninstall.</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Quarterly pricing is not 3x monthly because each cycle is a full engagement rather than an incremental checkpoint.</a:t>
            </a:r>
            <a:endParaRPr lang="en-US" sz="1050" dirty="0"/>
          </a:p>
        </p:txBody>
      </p:sp>
      <p:sp>
        <p:nvSpPr>
          <p:cNvPr id="34" name="Text 32"/>
          <p:cNvSpPr/>
          <p:nvPr/>
        </p:nvSpPr>
        <p:spPr>
          <a:xfrm>
            <a:off x="4581144" y="5413248"/>
            <a:ext cx="332841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FINRA 3110(c) (minimum cadence)</a:t>
            </a:r>
            <a:endParaRPr lang="en-US" sz="900" dirty="0"/>
          </a:p>
        </p:txBody>
      </p:sp>
      <p:sp>
        <p:nvSpPr>
          <p:cNvPr id="35" name="Shape 33"/>
          <p:cNvSpPr/>
          <p:nvPr/>
        </p:nvSpPr>
        <p:spPr>
          <a:xfrm>
            <a:off x="8238744" y="2103120"/>
            <a:ext cx="3337560" cy="3657600"/>
          </a:xfrm>
          <a:prstGeom prst="roundRect">
            <a:avLst>
              <a:gd name="adj" fmla="val 2192"/>
            </a:avLst>
          </a:prstGeom>
          <a:solidFill>
            <a:srgbClr val="FFFFFF"/>
          </a:solidFill>
          <a:ln w="12700">
            <a:solidFill>
              <a:srgbClr val="D8E0EA"/>
            </a:solidFill>
            <a:prstDash val="solid"/>
          </a:ln>
        </p:spPr>
      </p:sp>
      <p:sp>
        <p:nvSpPr>
          <p:cNvPr id="36" name="Shape 34"/>
          <p:cNvSpPr/>
          <p:nvPr/>
        </p:nvSpPr>
        <p:spPr>
          <a:xfrm>
            <a:off x="8238744" y="2103120"/>
            <a:ext cx="3337560" cy="91440"/>
          </a:xfrm>
          <a:prstGeom prst="rect">
            <a:avLst/>
          </a:prstGeom>
          <a:solidFill>
            <a:srgbClr val="006DB6"/>
          </a:solidFill>
          <a:ln w="12700">
            <a:solidFill>
              <a:srgbClr val="006DB6">
                <a:alpha val="0"/>
              </a:srgbClr>
            </a:solidFill>
            <a:prstDash val="solid"/>
          </a:ln>
        </p:spPr>
      </p:sp>
      <p:sp>
        <p:nvSpPr>
          <p:cNvPr id="37" name="Text 35"/>
          <p:cNvSpPr/>
          <p:nvPr/>
        </p:nvSpPr>
        <p:spPr>
          <a:xfrm>
            <a:off x="8403336" y="2286000"/>
            <a:ext cx="300837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WHY NOT SKIP IT</a:t>
            </a:r>
            <a:endParaRPr lang="en-US" sz="900" dirty="0"/>
          </a:p>
        </p:txBody>
      </p:sp>
      <p:sp>
        <p:nvSpPr>
          <p:cNvPr id="38" name="Text 36"/>
          <p:cNvSpPr/>
          <p:nvPr/>
        </p:nvSpPr>
        <p:spPr>
          <a:xfrm>
            <a:off x="8403336" y="2505456"/>
            <a:ext cx="300837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Drift Is The Risk</a:t>
            </a:r>
            <a:endParaRPr lang="en-US" sz="1600" dirty="0"/>
          </a:p>
        </p:txBody>
      </p:sp>
      <p:sp>
        <p:nvSpPr>
          <p:cNvPr id="39" name="Text 37"/>
          <p:cNvSpPr/>
          <p:nvPr/>
        </p:nvSpPr>
        <p:spPr>
          <a:xfrm>
            <a:off x="8403336" y="2889504"/>
            <a:ext cx="3008376" cy="273405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Configuration drift between checkpoints is where examiner findings originate.</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An MFA rule disabled three months ago, a DLP policy accidentally edited, an IP whitelist exception never removed - these are typically found only by periodic attested review.</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Continuous tooling detects; the assessment attests.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NO DUPLICATION</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How The Stack Fits Together - Each Layer Solves A Distinct Problem</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If any layer is removed, a specific regulatory requirement becomes unenforced by technical means.</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11</a:t>
            </a:r>
            <a:endParaRPr lang="en-US" sz="1000" dirty="0"/>
          </a:p>
        </p:txBody>
      </p:sp>
      <p:sp>
        <p:nvSpPr>
          <p:cNvPr id="23" name="Shape 21"/>
          <p:cNvSpPr/>
          <p:nvPr/>
        </p:nvSpPr>
        <p:spPr>
          <a:xfrm>
            <a:off x="502920" y="2057400"/>
            <a:ext cx="11155680" cy="347472"/>
          </a:xfrm>
          <a:prstGeom prst="roundRect">
            <a:avLst>
              <a:gd name="adj" fmla="val 7895"/>
            </a:avLst>
          </a:prstGeom>
          <a:solidFill>
            <a:srgbClr val="006DB6"/>
          </a:solidFill>
          <a:ln w="12700">
            <a:solidFill>
              <a:srgbClr val="006DB6">
                <a:alpha val="0"/>
              </a:srgbClr>
            </a:solidFill>
            <a:prstDash val="solid"/>
          </a:ln>
        </p:spPr>
      </p:sp>
      <p:sp>
        <p:nvSpPr>
          <p:cNvPr id="24" name="Text 22"/>
          <p:cNvSpPr/>
          <p:nvPr/>
        </p:nvSpPr>
        <p:spPr>
          <a:xfrm>
            <a:off x="576072" y="2130552"/>
            <a:ext cx="213969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Layer</a:t>
            </a:r>
            <a:endParaRPr lang="en-US" sz="900" dirty="0"/>
          </a:p>
        </p:txBody>
      </p:sp>
      <p:sp>
        <p:nvSpPr>
          <p:cNvPr id="25" name="Text 23"/>
          <p:cNvSpPr/>
          <p:nvPr/>
        </p:nvSpPr>
        <p:spPr>
          <a:xfrm>
            <a:off x="2862072" y="2130552"/>
            <a:ext cx="401421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Unique Control Provided</a:t>
            </a:r>
            <a:endParaRPr lang="en-US" sz="900" dirty="0"/>
          </a:p>
        </p:txBody>
      </p:sp>
      <p:sp>
        <p:nvSpPr>
          <p:cNvPr id="26" name="Text 24"/>
          <p:cNvSpPr/>
          <p:nvPr/>
        </p:nvSpPr>
        <p:spPr>
          <a:xfrm>
            <a:off x="7022592" y="2130552"/>
            <a:ext cx="4562856"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If Removed...</a:t>
            </a:r>
            <a:endParaRPr lang="en-US" sz="900" dirty="0"/>
          </a:p>
        </p:txBody>
      </p:sp>
      <p:sp>
        <p:nvSpPr>
          <p:cNvPr id="27" name="Shape 25"/>
          <p:cNvSpPr/>
          <p:nvPr/>
        </p:nvSpPr>
        <p:spPr>
          <a:xfrm>
            <a:off x="502920" y="2423160"/>
            <a:ext cx="11155680" cy="530352"/>
          </a:xfrm>
          <a:prstGeom prst="rect">
            <a:avLst/>
          </a:prstGeom>
          <a:solidFill>
            <a:srgbClr val="FFFFFF"/>
          </a:solidFill>
          <a:ln w="12700">
            <a:solidFill>
              <a:srgbClr val="D8E0EA"/>
            </a:solidFill>
            <a:prstDash val="solid"/>
          </a:ln>
        </p:spPr>
      </p:sp>
      <p:sp>
        <p:nvSpPr>
          <p:cNvPr id="28" name="Text 26"/>
          <p:cNvSpPr/>
          <p:nvPr/>
        </p:nvSpPr>
        <p:spPr>
          <a:xfrm>
            <a:off x="576072" y="2505456"/>
            <a:ext cx="21396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Horizon VDI (7 roles)</a:t>
            </a:r>
            <a:endParaRPr lang="en-US" sz="950" dirty="0"/>
          </a:p>
        </p:txBody>
      </p:sp>
      <p:sp>
        <p:nvSpPr>
          <p:cNvPr id="29" name="Text 27"/>
          <p:cNvSpPr/>
          <p:nvPr/>
        </p:nvSpPr>
        <p:spPr>
          <a:xfrm>
            <a:off x="2862072" y="2505456"/>
            <a:ext cx="401421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Client data stays in Technijian datacenter; supervised session boundary.</a:t>
            </a:r>
            <a:endParaRPr lang="en-US" sz="950" dirty="0"/>
          </a:p>
        </p:txBody>
      </p:sp>
      <p:sp>
        <p:nvSpPr>
          <p:cNvPr id="30" name="Text 28"/>
          <p:cNvSpPr/>
          <p:nvPr/>
        </p:nvSpPr>
        <p:spPr>
          <a:xfrm>
            <a:off x="7022592" y="2505456"/>
            <a:ext cx="45628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Endpoint loss / compromise exposes regulated data. Reg S-P §248.30(a) safeguard weakens.</a:t>
            </a:r>
            <a:endParaRPr lang="en-US" sz="950" dirty="0"/>
          </a:p>
        </p:txBody>
      </p:sp>
      <p:sp>
        <p:nvSpPr>
          <p:cNvPr id="31" name="Shape 29"/>
          <p:cNvSpPr/>
          <p:nvPr/>
        </p:nvSpPr>
        <p:spPr>
          <a:xfrm>
            <a:off x="502920" y="2971800"/>
            <a:ext cx="11155680" cy="530352"/>
          </a:xfrm>
          <a:prstGeom prst="rect">
            <a:avLst/>
          </a:prstGeom>
          <a:solidFill>
            <a:srgbClr val="EEF2F7"/>
          </a:solidFill>
          <a:ln w="12700">
            <a:solidFill>
              <a:srgbClr val="D8E0EA"/>
            </a:solidFill>
            <a:prstDash val="solid"/>
          </a:ln>
        </p:spPr>
      </p:sp>
      <p:sp>
        <p:nvSpPr>
          <p:cNvPr id="32" name="Text 30"/>
          <p:cNvSpPr/>
          <p:nvPr/>
        </p:nvSpPr>
        <p:spPr>
          <a:xfrm>
            <a:off x="576072" y="3054096"/>
            <a:ext cx="21396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MyAudit (endpoint DLP)</a:t>
            </a:r>
            <a:endParaRPr lang="en-US" sz="950" dirty="0"/>
          </a:p>
        </p:txBody>
      </p:sp>
      <p:sp>
        <p:nvSpPr>
          <p:cNvPr id="33" name="Text 31"/>
          <p:cNvSpPr/>
          <p:nvPr/>
        </p:nvSpPr>
        <p:spPr>
          <a:xfrm>
            <a:off x="2862072" y="3054096"/>
            <a:ext cx="401421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Blocks USB, local download, print, clipboard, screenshot on managed device.</a:t>
            </a:r>
            <a:endParaRPr lang="en-US" sz="950" dirty="0"/>
          </a:p>
        </p:txBody>
      </p:sp>
      <p:sp>
        <p:nvSpPr>
          <p:cNvPr id="34" name="Text 32"/>
          <p:cNvSpPr/>
          <p:nvPr/>
        </p:nvSpPr>
        <p:spPr>
          <a:xfrm>
            <a:off x="7022592" y="3054096"/>
            <a:ext cx="45628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User can exfiltrate via USB or local download. M365 DLP does not cover this.</a:t>
            </a:r>
            <a:endParaRPr lang="en-US" sz="950" dirty="0"/>
          </a:p>
        </p:txBody>
      </p:sp>
      <p:sp>
        <p:nvSpPr>
          <p:cNvPr id="35" name="Shape 33"/>
          <p:cNvSpPr/>
          <p:nvPr/>
        </p:nvSpPr>
        <p:spPr>
          <a:xfrm>
            <a:off x="502920" y="3520440"/>
            <a:ext cx="11155680" cy="530352"/>
          </a:xfrm>
          <a:prstGeom prst="rect">
            <a:avLst/>
          </a:prstGeom>
          <a:solidFill>
            <a:srgbClr val="FFFFFF"/>
          </a:solidFill>
          <a:ln w="12700">
            <a:solidFill>
              <a:srgbClr val="D8E0EA"/>
            </a:solidFill>
            <a:prstDash val="solid"/>
          </a:ln>
        </p:spPr>
      </p:sp>
      <p:sp>
        <p:nvSpPr>
          <p:cNvPr id="36" name="Text 34"/>
          <p:cNvSpPr/>
          <p:nvPr/>
        </p:nvSpPr>
        <p:spPr>
          <a:xfrm>
            <a:off x="576072" y="3602736"/>
            <a:ext cx="21396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SSO / 2FA gateway</a:t>
            </a:r>
            <a:endParaRPr lang="en-US" sz="950" dirty="0"/>
          </a:p>
        </p:txBody>
      </p:sp>
      <p:sp>
        <p:nvSpPr>
          <p:cNvPr id="37" name="Text 35"/>
          <p:cNvSpPr/>
          <p:nvPr/>
        </p:nvSpPr>
        <p:spPr>
          <a:xfrm>
            <a:off x="2862072" y="3602736"/>
            <a:ext cx="401421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Enforced, logged MFA on non-M365 portals with unified auditing.</a:t>
            </a:r>
            <a:endParaRPr lang="en-US" sz="950" dirty="0"/>
          </a:p>
        </p:txBody>
      </p:sp>
      <p:sp>
        <p:nvSpPr>
          <p:cNvPr id="38" name="Text 36"/>
          <p:cNvSpPr/>
          <p:nvPr/>
        </p:nvSpPr>
        <p:spPr>
          <a:xfrm>
            <a:off x="7022592" y="3602736"/>
            <a:ext cx="45628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Custodian portal MFA is self-enabled, unauditable. Reg S-P 2024 gap.</a:t>
            </a:r>
            <a:endParaRPr lang="en-US" sz="950" dirty="0"/>
          </a:p>
        </p:txBody>
      </p:sp>
      <p:sp>
        <p:nvSpPr>
          <p:cNvPr id="39" name="Shape 37"/>
          <p:cNvSpPr/>
          <p:nvPr/>
        </p:nvSpPr>
        <p:spPr>
          <a:xfrm>
            <a:off x="502920" y="4069080"/>
            <a:ext cx="11155680" cy="530352"/>
          </a:xfrm>
          <a:prstGeom prst="rect">
            <a:avLst/>
          </a:prstGeom>
          <a:solidFill>
            <a:srgbClr val="EEF2F7"/>
          </a:solidFill>
          <a:ln w="12700">
            <a:solidFill>
              <a:srgbClr val="D8E0EA"/>
            </a:solidFill>
            <a:prstDash val="solid"/>
          </a:ln>
        </p:spPr>
      </p:sp>
      <p:sp>
        <p:nvSpPr>
          <p:cNvPr id="40" name="Text 38"/>
          <p:cNvSpPr/>
          <p:nvPr/>
        </p:nvSpPr>
        <p:spPr>
          <a:xfrm>
            <a:off x="576072" y="4151376"/>
            <a:ext cx="21396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IP whitelist + managed endpoint</a:t>
            </a:r>
            <a:endParaRPr lang="en-US" sz="950" dirty="0"/>
          </a:p>
        </p:txBody>
      </p:sp>
      <p:sp>
        <p:nvSpPr>
          <p:cNvPr id="41" name="Text 39"/>
          <p:cNvSpPr/>
          <p:nvPr/>
        </p:nvSpPr>
        <p:spPr>
          <a:xfrm>
            <a:off x="2862072" y="4151376"/>
            <a:ext cx="401421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Blocks all access from personal devices or home networks.</a:t>
            </a:r>
            <a:endParaRPr lang="en-US" sz="950" dirty="0"/>
          </a:p>
        </p:txBody>
      </p:sp>
      <p:sp>
        <p:nvSpPr>
          <p:cNvPr id="42" name="Text 40"/>
          <p:cNvSpPr/>
          <p:nvPr/>
        </p:nvSpPr>
        <p:spPr>
          <a:xfrm>
            <a:off x="7022592" y="4151376"/>
            <a:ext cx="45628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User MFAs into OneDrive / custodian from home PC and downloads locally.</a:t>
            </a:r>
            <a:endParaRPr lang="en-US" sz="950" dirty="0"/>
          </a:p>
        </p:txBody>
      </p:sp>
      <p:sp>
        <p:nvSpPr>
          <p:cNvPr id="43" name="Shape 41"/>
          <p:cNvSpPr/>
          <p:nvPr/>
        </p:nvSpPr>
        <p:spPr>
          <a:xfrm>
            <a:off x="502920" y="4617720"/>
            <a:ext cx="11155680" cy="530352"/>
          </a:xfrm>
          <a:prstGeom prst="rect">
            <a:avLst/>
          </a:prstGeom>
          <a:solidFill>
            <a:srgbClr val="FFFFFF"/>
          </a:solidFill>
          <a:ln w="12700">
            <a:solidFill>
              <a:srgbClr val="D8E0EA"/>
            </a:solidFill>
            <a:prstDash val="solid"/>
          </a:ln>
        </p:spPr>
      </p:sp>
      <p:sp>
        <p:nvSpPr>
          <p:cNvPr id="44" name="Text 42"/>
          <p:cNvSpPr/>
          <p:nvPr/>
        </p:nvSpPr>
        <p:spPr>
          <a:xfrm>
            <a:off x="576072" y="4700016"/>
            <a:ext cx="21396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Veeam Backup for M365</a:t>
            </a:r>
            <a:endParaRPr lang="en-US" sz="950" dirty="0"/>
          </a:p>
        </p:txBody>
      </p:sp>
      <p:sp>
        <p:nvSpPr>
          <p:cNvPr id="45" name="Text 43"/>
          <p:cNvSpPr/>
          <p:nvPr/>
        </p:nvSpPr>
        <p:spPr>
          <a:xfrm>
            <a:off x="2862072" y="4700016"/>
            <a:ext cx="401421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Immutable full-tenant backup with granular restore.</a:t>
            </a:r>
            <a:endParaRPr lang="en-US" sz="950" dirty="0"/>
          </a:p>
        </p:txBody>
      </p:sp>
      <p:sp>
        <p:nvSpPr>
          <p:cNvPr id="46" name="Text 44"/>
          <p:cNvSpPr/>
          <p:nvPr/>
        </p:nvSpPr>
        <p:spPr>
          <a:xfrm>
            <a:off x="7022592" y="4700016"/>
            <a:ext cx="45628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Ransomware, malicious admin, or mass deletion becomes unrecoverable. 17a-4(f) gap.</a:t>
            </a:r>
            <a:endParaRPr lang="en-US" sz="950" dirty="0"/>
          </a:p>
        </p:txBody>
      </p:sp>
      <p:sp>
        <p:nvSpPr>
          <p:cNvPr id="47" name="Shape 45"/>
          <p:cNvSpPr/>
          <p:nvPr/>
        </p:nvSpPr>
        <p:spPr>
          <a:xfrm>
            <a:off x="502920" y="5166360"/>
            <a:ext cx="11155680" cy="530352"/>
          </a:xfrm>
          <a:prstGeom prst="rect">
            <a:avLst/>
          </a:prstGeom>
          <a:solidFill>
            <a:srgbClr val="EEF2F7"/>
          </a:solidFill>
          <a:ln w="12700">
            <a:solidFill>
              <a:srgbClr val="D8E0EA"/>
            </a:solidFill>
            <a:prstDash val="solid"/>
          </a:ln>
        </p:spPr>
      </p:sp>
      <p:sp>
        <p:nvSpPr>
          <p:cNvPr id="48" name="Text 46"/>
          <p:cNvSpPr/>
          <p:nvPr/>
        </p:nvSpPr>
        <p:spPr>
          <a:xfrm>
            <a:off x="576072" y="5248656"/>
            <a:ext cx="21396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M365 native DLP + retention</a:t>
            </a:r>
            <a:endParaRPr lang="en-US" sz="950" dirty="0"/>
          </a:p>
        </p:txBody>
      </p:sp>
      <p:sp>
        <p:nvSpPr>
          <p:cNvPr id="49" name="Text 47"/>
          <p:cNvSpPr/>
          <p:nvPr/>
        </p:nvSpPr>
        <p:spPr>
          <a:xfrm>
            <a:off x="2862072" y="5248656"/>
            <a:ext cx="401421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In-cloud data handling controls and mail-flow DLP.</a:t>
            </a:r>
            <a:endParaRPr lang="en-US" sz="950" dirty="0"/>
          </a:p>
        </p:txBody>
      </p:sp>
      <p:sp>
        <p:nvSpPr>
          <p:cNvPr id="50" name="Text 48"/>
          <p:cNvSpPr/>
          <p:nvPr/>
        </p:nvSpPr>
        <p:spPr>
          <a:xfrm>
            <a:off x="7022592" y="5248656"/>
            <a:ext cx="45628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External sharing and mail exfiltration lose tenant-side controls.</a:t>
            </a:r>
            <a:endParaRPr lang="en-US" sz="950" dirty="0"/>
          </a:p>
        </p:txBody>
      </p:sp>
      <p:sp>
        <p:nvSpPr>
          <p:cNvPr id="51" name="Shape 49"/>
          <p:cNvSpPr/>
          <p:nvPr/>
        </p:nvSpPr>
        <p:spPr>
          <a:xfrm>
            <a:off x="502920" y="5715000"/>
            <a:ext cx="11155680" cy="530352"/>
          </a:xfrm>
          <a:prstGeom prst="rect">
            <a:avLst/>
          </a:prstGeom>
          <a:solidFill>
            <a:srgbClr val="FFFFFF"/>
          </a:solidFill>
          <a:ln w="12700">
            <a:solidFill>
              <a:srgbClr val="D8E0EA"/>
            </a:solidFill>
            <a:prstDash val="solid"/>
          </a:ln>
        </p:spPr>
      </p:sp>
      <p:sp>
        <p:nvSpPr>
          <p:cNvPr id="52" name="Text 50"/>
          <p:cNvSpPr/>
          <p:nvPr/>
        </p:nvSpPr>
        <p:spPr>
          <a:xfrm>
            <a:off x="576072" y="5797296"/>
            <a:ext cx="2139696" cy="384048"/>
          </a:xfrm>
          <a:prstGeom prst="rect">
            <a:avLst/>
          </a:prstGeom>
          <a:noFill/>
          <a:ln/>
        </p:spPr>
        <p:txBody>
          <a:bodyPr wrap="square" lIns="0" tIns="0" rIns="0" bIns="0" rtlCol="0" anchor="ctr"/>
          <a:lstStyle/>
          <a:p>
            <a:pPr indent="0" marL="0">
              <a:buNone/>
            </a:pPr>
            <a:r>
              <a:rPr lang="en-US" sz="950" b="1" dirty="0">
                <a:solidFill>
                  <a:srgbClr val="334155"/>
                </a:solidFill>
                <a:latin typeface="Arial" pitchFamily="34" charset="0"/>
                <a:ea typeface="Arial" pitchFamily="34" charset="-122"/>
                <a:cs typeface="Arial" pitchFamily="34" charset="-120"/>
              </a:rPr>
              <a:t>Technijian monthly assessment</a:t>
            </a:r>
            <a:endParaRPr lang="en-US" sz="950" dirty="0"/>
          </a:p>
        </p:txBody>
      </p:sp>
      <p:sp>
        <p:nvSpPr>
          <p:cNvPr id="53" name="Text 51"/>
          <p:cNvSpPr/>
          <p:nvPr/>
        </p:nvSpPr>
        <p:spPr>
          <a:xfrm>
            <a:off x="2862072" y="5797296"/>
            <a:ext cx="401421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Attested evidence that all above controls are operating as designed.</a:t>
            </a:r>
            <a:endParaRPr lang="en-US" sz="950" dirty="0"/>
          </a:p>
        </p:txBody>
      </p:sp>
      <p:sp>
        <p:nvSpPr>
          <p:cNvPr id="54" name="Text 52"/>
          <p:cNvSpPr/>
          <p:nvPr/>
        </p:nvSpPr>
        <p:spPr>
          <a:xfrm>
            <a:off x="7022592" y="5797296"/>
            <a:ext cx="4562856" cy="38404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Drift goes undetected. FINRA 3110(c) inspection obligation harder to evidence.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sp>
        <p:nvSpPr>
          <p:cNvPr id="3" name="Shape 1"/>
          <p:cNvSpPr/>
          <p:nvPr/>
        </p:nvSpPr>
        <p:spPr>
          <a:xfrm>
            <a:off x="502920" y="32004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01675" y="32004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00430" y="32004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799186" y="32004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02920" y="41879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01675" y="41879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00430" y="41879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799186" y="41879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02920" y="51755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01675" y="51755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00430" y="51755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799186" y="51755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989381" y="301752"/>
            <a:ext cx="1645920" cy="329184"/>
          </a:xfrm>
          <a:prstGeom prst="rect">
            <a:avLst/>
          </a:prstGeom>
          <a:noFill/>
          <a:ln/>
        </p:spPr>
        <p:txBody>
          <a:bodyPr wrap="square" lIns="0" tIns="0" rIns="0" bIns="0" rtlCol="0" anchor="ctr"/>
          <a:lstStyle/>
          <a:p>
            <a:pPr indent="0" marL="0">
              <a:buNone/>
            </a:pPr>
            <a:r>
              <a:rPr lang="en-US" sz="1700" b="1" dirty="0">
                <a:solidFill>
                  <a:srgbClr val="1A1A2E"/>
                </a:solidFill>
                <a:latin typeface="Arial" pitchFamily="34" charset="0"/>
                <a:ea typeface="Arial" pitchFamily="34" charset="-122"/>
                <a:cs typeface="Arial" pitchFamily="34" charset="-120"/>
              </a:rPr>
              <a:t>TECHNIJIAN</a:t>
            </a:r>
            <a:endParaRPr lang="en-US" sz="1700" dirty="0"/>
          </a:p>
        </p:txBody>
      </p:sp>
      <p:sp>
        <p:nvSpPr>
          <p:cNvPr id="16" name="Text 14"/>
          <p:cNvSpPr/>
          <p:nvPr/>
        </p:nvSpPr>
        <p:spPr>
          <a:xfrm>
            <a:off x="502920" y="868680"/>
            <a:ext cx="54864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REVISED PATH</a:t>
            </a:r>
            <a:endParaRPr lang="en-US" sz="1000" dirty="0"/>
          </a:p>
        </p:txBody>
      </p:sp>
      <p:sp>
        <p:nvSpPr>
          <p:cNvPr id="17" name="Text 15"/>
          <p:cNvSpPr/>
          <p:nvPr/>
        </p:nvSpPr>
        <p:spPr>
          <a:xfrm>
            <a:off x="502920" y="1097280"/>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What The Revised Proposal Will Say</a:t>
            </a:r>
            <a:endParaRPr lang="en-US" sz="2200" dirty="0"/>
          </a:p>
        </p:txBody>
      </p:sp>
      <p:sp>
        <p:nvSpPr>
          <p:cNvPr id="18" name="Text 16"/>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Leaner where we can, firm where compliance requires it.</a:t>
            </a:r>
            <a:endParaRPr lang="en-US" sz="1100" dirty="0"/>
          </a:p>
        </p:txBody>
      </p:sp>
      <p:sp>
        <p:nvSpPr>
          <p:cNvPr id="19" name="Shape 17"/>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20" name="Shape 18"/>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21" name="Text 19"/>
          <p:cNvSpPr/>
          <p:nvPr/>
        </p:nvSpPr>
        <p:spPr>
          <a:xfrm>
            <a:off x="502920" y="6492240"/>
            <a:ext cx="68580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AFFG IT Compliance Strategy - Revised Proposal Review</a:t>
            </a:r>
            <a:endParaRPr lang="en-US" sz="900" dirty="0"/>
          </a:p>
        </p:txBody>
      </p:sp>
      <p:sp>
        <p:nvSpPr>
          <p:cNvPr id="22" name="Text 20"/>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12</a:t>
            </a:r>
            <a:endParaRPr lang="en-US" sz="1000" dirty="0"/>
          </a:p>
        </p:txBody>
      </p:sp>
      <p:sp>
        <p:nvSpPr>
          <p:cNvPr id="23" name="Shape 21"/>
          <p:cNvSpPr/>
          <p:nvPr/>
        </p:nvSpPr>
        <p:spPr>
          <a:xfrm>
            <a:off x="868680" y="2221992"/>
            <a:ext cx="109728" cy="109728"/>
          </a:xfrm>
          <a:prstGeom prst="ellipse">
            <a:avLst/>
          </a:prstGeom>
          <a:solidFill>
            <a:srgbClr val="1EAAC8"/>
          </a:solidFill>
          <a:ln w="12700">
            <a:solidFill>
              <a:srgbClr val="1EAAC8">
                <a:alpha val="0"/>
              </a:srgbClr>
            </a:solidFill>
            <a:prstDash val="solid"/>
          </a:ln>
        </p:spPr>
      </p:sp>
      <p:sp>
        <p:nvSpPr>
          <p:cNvPr id="24" name="Text 22"/>
          <p:cNvSpPr/>
          <p:nvPr/>
        </p:nvSpPr>
        <p:spPr>
          <a:xfrm>
            <a:off x="1069848" y="2148840"/>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Horizon VDI - dedicated per-user workstations in the Technijian datacenter, scoped to the 7 in-scope roles.</a:t>
            </a:r>
            <a:endParaRPr lang="en-US" sz="1400" dirty="0"/>
          </a:p>
        </p:txBody>
      </p:sp>
      <p:sp>
        <p:nvSpPr>
          <p:cNvPr id="25" name="Shape 23"/>
          <p:cNvSpPr/>
          <p:nvPr/>
        </p:nvSpPr>
        <p:spPr>
          <a:xfrm>
            <a:off x="868680" y="2651760"/>
            <a:ext cx="109728" cy="109728"/>
          </a:xfrm>
          <a:prstGeom prst="ellipse">
            <a:avLst/>
          </a:prstGeom>
          <a:solidFill>
            <a:srgbClr val="1EAAC8"/>
          </a:solidFill>
          <a:ln w="12700">
            <a:solidFill>
              <a:srgbClr val="1EAAC8">
                <a:alpha val="0"/>
              </a:srgbClr>
            </a:solidFill>
            <a:prstDash val="solid"/>
          </a:ln>
        </p:spPr>
      </p:sp>
      <p:sp>
        <p:nvSpPr>
          <p:cNvPr id="26" name="Text 24"/>
          <p:cNvSpPr/>
          <p:nvPr/>
        </p:nvSpPr>
        <p:spPr>
          <a:xfrm>
            <a:off x="1069848" y="2578608"/>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MyAudit endpoint DLP retained - complementary to M365 DLP, not duplicative.</a:t>
            </a:r>
            <a:endParaRPr lang="en-US" sz="1400" dirty="0"/>
          </a:p>
        </p:txBody>
      </p:sp>
      <p:sp>
        <p:nvSpPr>
          <p:cNvPr id="27" name="Shape 25"/>
          <p:cNvSpPr/>
          <p:nvPr/>
        </p:nvSpPr>
        <p:spPr>
          <a:xfrm>
            <a:off x="868680" y="3081528"/>
            <a:ext cx="109728" cy="109728"/>
          </a:xfrm>
          <a:prstGeom prst="ellipse">
            <a:avLst/>
          </a:prstGeom>
          <a:solidFill>
            <a:srgbClr val="1EAAC8"/>
          </a:solidFill>
          <a:ln w="12700">
            <a:solidFill>
              <a:srgbClr val="1EAAC8">
                <a:alpha val="0"/>
              </a:srgbClr>
            </a:solidFill>
            <a:prstDash val="solid"/>
          </a:ln>
        </p:spPr>
      </p:sp>
      <p:sp>
        <p:nvSpPr>
          <p:cNvPr id="28" name="Text 26"/>
          <p:cNvSpPr/>
          <p:nvPr/>
        </p:nvSpPr>
        <p:spPr>
          <a:xfrm>
            <a:off x="1069848" y="3008376"/>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SSO/2FA gateway retained to enforce MFA on custodian bank portals and all non-M365 systems.</a:t>
            </a:r>
            <a:endParaRPr lang="en-US" sz="1400" dirty="0"/>
          </a:p>
        </p:txBody>
      </p:sp>
      <p:sp>
        <p:nvSpPr>
          <p:cNvPr id="29" name="Shape 27"/>
          <p:cNvSpPr/>
          <p:nvPr/>
        </p:nvSpPr>
        <p:spPr>
          <a:xfrm>
            <a:off x="868680" y="3511296"/>
            <a:ext cx="109728" cy="109728"/>
          </a:xfrm>
          <a:prstGeom prst="ellipse">
            <a:avLst/>
          </a:prstGeom>
          <a:solidFill>
            <a:srgbClr val="1EAAC8"/>
          </a:solidFill>
          <a:ln w="12700">
            <a:solidFill>
              <a:srgbClr val="1EAAC8">
                <a:alpha val="0"/>
              </a:srgbClr>
            </a:solidFill>
            <a:prstDash val="solid"/>
          </a:ln>
        </p:spPr>
      </p:sp>
      <p:sp>
        <p:nvSpPr>
          <p:cNvPr id="30" name="Text 28"/>
          <p:cNvSpPr/>
          <p:nvPr/>
        </p:nvSpPr>
        <p:spPr>
          <a:xfrm>
            <a:off x="1069848" y="3438144"/>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IP whitelist added for M365, OneDrive, and every custodian portal (office IP and Horizon VDI egress only).</a:t>
            </a:r>
            <a:endParaRPr lang="en-US" sz="1400" dirty="0"/>
          </a:p>
        </p:txBody>
      </p:sp>
      <p:sp>
        <p:nvSpPr>
          <p:cNvPr id="31" name="Shape 29"/>
          <p:cNvSpPr/>
          <p:nvPr/>
        </p:nvSpPr>
        <p:spPr>
          <a:xfrm>
            <a:off x="868680" y="3941064"/>
            <a:ext cx="109728" cy="109728"/>
          </a:xfrm>
          <a:prstGeom prst="ellipse">
            <a:avLst/>
          </a:prstGeom>
          <a:solidFill>
            <a:srgbClr val="1EAAC8"/>
          </a:solidFill>
          <a:ln w="12700">
            <a:solidFill>
              <a:srgbClr val="1EAAC8">
                <a:alpha val="0"/>
              </a:srgbClr>
            </a:solidFill>
            <a:prstDash val="solid"/>
          </a:ln>
        </p:spPr>
      </p:sp>
      <p:sp>
        <p:nvSpPr>
          <p:cNvPr id="32" name="Text 30"/>
          <p:cNvSpPr/>
          <p:nvPr/>
        </p:nvSpPr>
        <p:spPr>
          <a:xfrm>
            <a:off x="1069848" y="3867912"/>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Technijian-managed endpoint compliance required for all access to regulated systems.</a:t>
            </a:r>
            <a:endParaRPr lang="en-US" sz="1400" dirty="0"/>
          </a:p>
        </p:txBody>
      </p:sp>
      <p:sp>
        <p:nvSpPr>
          <p:cNvPr id="33" name="Shape 31"/>
          <p:cNvSpPr/>
          <p:nvPr/>
        </p:nvSpPr>
        <p:spPr>
          <a:xfrm>
            <a:off x="868680" y="4370832"/>
            <a:ext cx="109728" cy="109728"/>
          </a:xfrm>
          <a:prstGeom prst="ellipse">
            <a:avLst/>
          </a:prstGeom>
          <a:solidFill>
            <a:srgbClr val="1EAAC8"/>
          </a:solidFill>
          <a:ln w="12700">
            <a:solidFill>
              <a:srgbClr val="1EAAC8">
                <a:alpha val="0"/>
              </a:srgbClr>
            </a:solidFill>
            <a:prstDash val="solid"/>
          </a:ln>
        </p:spPr>
      </p:sp>
      <p:sp>
        <p:nvSpPr>
          <p:cNvPr id="34" name="Text 32"/>
          <p:cNvSpPr/>
          <p:nvPr/>
        </p:nvSpPr>
        <p:spPr>
          <a:xfrm>
            <a:off x="1069848" y="4297680"/>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Veeam Backup for M365 retained - full tenant backup (not duplicative of M365 retention).</a:t>
            </a:r>
            <a:endParaRPr lang="en-US" sz="1400" dirty="0"/>
          </a:p>
        </p:txBody>
      </p:sp>
      <p:sp>
        <p:nvSpPr>
          <p:cNvPr id="35" name="Shape 33"/>
          <p:cNvSpPr/>
          <p:nvPr/>
        </p:nvSpPr>
        <p:spPr>
          <a:xfrm>
            <a:off x="868680" y="4800600"/>
            <a:ext cx="109728" cy="109728"/>
          </a:xfrm>
          <a:prstGeom prst="ellipse">
            <a:avLst/>
          </a:prstGeom>
          <a:solidFill>
            <a:srgbClr val="1EAAC8"/>
          </a:solidFill>
          <a:ln w="12700">
            <a:solidFill>
              <a:srgbClr val="1EAAC8">
                <a:alpha val="0"/>
              </a:srgbClr>
            </a:solidFill>
            <a:prstDash val="solid"/>
          </a:ln>
        </p:spPr>
      </p:sp>
      <p:sp>
        <p:nvSpPr>
          <p:cNvPr id="36" name="Text 34"/>
          <p:cNvSpPr/>
          <p:nvPr/>
        </p:nvSpPr>
        <p:spPr>
          <a:xfrm>
            <a:off x="1069848" y="4727448"/>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Technijian monthly site + M365 assessment retained at $50/mo (or $250/qtr alternative).</a:t>
            </a:r>
            <a:endParaRPr lang="en-US" sz="1400" dirty="0"/>
          </a:p>
        </p:txBody>
      </p:sp>
      <p:sp>
        <p:nvSpPr>
          <p:cNvPr id="37" name="Shape 35"/>
          <p:cNvSpPr/>
          <p:nvPr/>
        </p:nvSpPr>
        <p:spPr>
          <a:xfrm>
            <a:off x="868680" y="5230368"/>
            <a:ext cx="109728" cy="109728"/>
          </a:xfrm>
          <a:prstGeom prst="ellipse">
            <a:avLst/>
          </a:prstGeom>
          <a:solidFill>
            <a:srgbClr val="1EAAC8"/>
          </a:solidFill>
          <a:ln w="12700">
            <a:solidFill>
              <a:srgbClr val="1EAAC8">
                <a:alpha val="0"/>
              </a:srgbClr>
            </a:solidFill>
            <a:prstDash val="solid"/>
          </a:ln>
        </p:spPr>
      </p:sp>
      <p:sp>
        <p:nvSpPr>
          <p:cNvPr id="38" name="Text 36"/>
          <p:cNvSpPr/>
          <p:nvPr/>
        </p:nvSpPr>
        <p:spPr>
          <a:xfrm>
            <a:off x="1069848" y="5157216"/>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Side-by-side control-to-citation map included as appendix to the revised proposal.</a:t>
            </a:r>
            <a:endParaRPr lang="en-US" sz="1400" dirty="0"/>
          </a:p>
        </p:txBody>
      </p:sp>
      <p:sp>
        <p:nvSpPr>
          <p:cNvPr id="39" name="Shape 37"/>
          <p:cNvSpPr/>
          <p:nvPr/>
        </p:nvSpPr>
        <p:spPr>
          <a:xfrm>
            <a:off x="868680" y="5660136"/>
            <a:ext cx="109728" cy="109728"/>
          </a:xfrm>
          <a:prstGeom prst="ellipse">
            <a:avLst/>
          </a:prstGeom>
          <a:solidFill>
            <a:srgbClr val="1EAAC8"/>
          </a:solidFill>
          <a:ln w="12700">
            <a:solidFill>
              <a:srgbClr val="1EAAC8">
                <a:alpha val="0"/>
              </a:srgbClr>
            </a:solidFill>
            <a:prstDash val="solid"/>
          </a:ln>
        </p:spPr>
      </p:sp>
      <p:sp>
        <p:nvSpPr>
          <p:cNvPr id="40" name="Text 38"/>
          <p:cNvSpPr/>
          <p:nvPr/>
        </p:nvSpPr>
        <p:spPr>
          <a:xfrm>
            <a:off x="1069848" y="5586984"/>
            <a:ext cx="10607040" cy="320040"/>
          </a:xfrm>
          <a:prstGeom prst="rect">
            <a:avLst/>
          </a:prstGeom>
          <a:noFill/>
          <a:ln/>
        </p:spPr>
        <p:txBody>
          <a:bodyPr wrap="square" lIns="0" tIns="0" rIns="0" bIns="0" rtlCol="0" anchor="ctr"/>
          <a:lstStyle/>
          <a:p>
            <a:pPr indent="0" marL="0">
              <a:buNone/>
            </a:pPr>
            <a:r>
              <a:rPr lang="en-US" sz="1400" dirty="0">
                <a:solidFill>
                  <a:srgbClr val="1A1A2E"/>
                </a:solidFill>
                <a:latin typeface="Arial" pitchFamily="34" charset="0"/>
                <a:ea typeface="Arial" pitchFamily="34" charset="-122"/>
                <a:cs typeface="Arial" pitchFamily="34" charset="-120"/>
              </a:rPr>
              <a:t>One-time implementation fee reduced to reflect the 7-user Horizon VDI scope.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6355080"/>
            <a:ext cx="12188952" cy="109728"/>
          </a:xfrm>
          <a:prstGeom prst="rect">
            <a:avLst/>
          </a:prstGeom>
          <a:solidFill>
            <a:srgbClr val="F67D4B"/>
          </a:solidFill>
          <a:ln w="12700">
            <a:solidFill>
              <a:srgbClr val="F67D4B">
                <a:alpha val="0"/>
              </a:srgbClr>
            </a:solidFill>
            <a:prstDash val="solid"/>
          </a:ln>
        </p:spPr>
      </p:sp>
      <p:sp>
        <p:nvSpPr>
          <p:cNvPr id="3" name="Shape 1"/>
          <p:cNvSpPr/>
          <p:nvPr/>
        </p:nvSpPr>
        <p:spPr>
          <a:xfrm>
            <a:off x="548640" y="457200"/>
            <a:ext cx="82296" cy="82296"/>
          </a:xfrm>
          <a:prstGeom prst="roundRect">
            <a:avLst>
              <a:gd name="adj" fmla="val 16667"/>
            </a:avLst>
          </a:prstGeom>
          <a:solidFill>
            <a:srgbClr val="64748B"/>
          </a:solidFill>
          <a:ln w="12700">
            <a:solidFill>
              <a:srgbClr val="64748B">
                <a:alpha val="0"/>
              </a:srgbClr>
            </a:solidFill>
            <a:prstDash val="solid"/>
          </a:ln>
        </p:spPr>
      </p:sp>
      <p:sp>
        <p:nvSpPr>
          <p:cNvPr id="4" name="Shape 2"/>
          <p:cNvSpPr/>
          <p:nvPr/>
        </p:nvSpPr>
        <p:spPr>
          <a:xfrm>
            <a:off x="647395" y="457200"/>
            <a:ext cx="82296" cy="82296"/>
          </a:xfrm>
          <a:prstGeom prst="roundRect">
            <a:avLst>
              <a:gd name="adj" fmla="val 16667"/>
            </a:avLst>
          </a:prstGeom>
          <a:solidFill>
            <a:srgbClr val="006DB6"/>
          </a:solidFill>
          <a:ln w="12700">
            <a:solidFill>
              <a:srgbClr val="006DB6">
                <a:alpha val="0"/>
              </a:srgbClr>
            </a:solidFill>
            <a:prstDash val="solid"/>
          </a:ln>
        </p:spPr>
      </p:sp>
      <p:sp>
        <p:nvSpPr>
          <p:cNvPr id="5" name="Shape 3"/>
          <p:cNvSpPr/>
          <p:nvPr/>
        </p:nvSpPr>
        <p:spPr>
          <a:xfrm>
            <a:off x="746150" y="457200"/>
            <a:ext cx="82296" cy="82296"/>
          </a:xfrm>
          <a:prstGeom prst="roundRect">
            <a:avLst>
              <a:gd name="adj" fmla="val 16667"/>
            </a:avLst>
          </a:prstGeom>
          <a:solidFill>
            <a:srgbClr val="F67D4B"/>
          </a:solidFill>
          <a:ln w="12700">
            <a:solidFill>
              <a:srgbClr val="F67D4B">
                <a:alpha val="0"/>
              </a:srgbClr>
            </a:solidFill>
            <a:prstDash val="solid"/>
          </a:ln>
        </p:spPr>
      </p:sp>
      <p:sp>
        <p:nvSpPr>
          <p:cNvPr id="6" name="Shape 4"/>
          <p:cNvSpPr/>
          <p:nvPr/>
        </p:nvSpPr>
        <p:spPr>
          <a:xfrm>
            <a:off x="844906" y="457200"/>
            <a:ext cx="82296" cy="82296"/>
          </a:xfrm>
          <a:prstGeom prst="roundRect">
            <a:avLst>
              <a:gd name="adj" fmla="val 16667"/>
            </a:avLst>
          </a:prstGeom>
          <a:solidFill>
            <a:srgbClr val="64748B"/>
          </a:solidFill>
          <a:ln w="12700">
            <a:solidFill>
              <a:srgbClr val="64748B">
                <a:alpha val="0"/>
              </a:srgbClr>
            </a:solidFill>
            <a:prstDash val="solid"/>
          </a:ln>
        </p:spPr>
      </p:sp>
      <p:sp>
        <p:nvSpPr>
          <p:cNvPr id="7" name="Shape 5"/>
          <p:cNvSpPr/>
          <p:nvPr/>
        </p:nvSpPr>
        <p:spPr>
          <a:xfrm>
            <a:off x="548640" y="555955"/>
            <a:ext cx="82296" cy="82296"/>
          </a:xfrm>
          <a:prstGeom prst="roundRect">
            <a:avLst>
              <a:gd name="adj" fmla="val 16667"/>
            </a:avLst>
          </a:prstGeom>
          <a:solidFill>
            <a:srgbClr val="64748B"/>
          </a:solidFill>
          <a:ln w="12700">
            <a:solidFill>
              <a:srgbClr val="64748B">
                <a:alpha val="0"/>
              </a:srgbClr>
            </a:solidFill>
            <a:prstDash val="solid"/>
          </a:ln>
        </p:spPr>
      </p:sp>
      <p:sp>
        <p:nvSpPr>
          <p:cNvPr id="8" name="Shape 6"/>
          <p:cNvSpPr/>
          <p:nvPr/>
        </p:nvSpPr>
        <p:spPr>
          <a:xfrm>
            <a:off x="647395" y="555955"/>
            <a:ext cx="82296" cy="82296"/>
          </a:xfrm>
          <a:prstGeom prst="roundRect">
            <a:avLst>
              <a:gd name="adj" fmla="val 16667"/>
            </a:avLst>
          </a:prstGeom>
          <a:solidFill>
            <a:srgbClr val="1EAAC8"/>
          </a:solidFill>
          <a:ln w="12700">
            <a:solidFill>
              <a:srgbClr val="1EAAC8">
                <a:alpha val="0"/>
              </a:srgbClr>
            </a:solidFill>
            <a:prstDash val="solid"/>
          </a:ln>
        </p:spPr>
      </p:sp>
      <p:sp>
        <p:nvSpPr>
          <p:cNvPr id="9" name="Shape 7"/>
          <p:cNvSpPr/>
          <p:nvPr/>
        </p:nvSpPr>
        <p:spPr>
          <a:xfrm>
            <a:off x="746150" y="555955"/>
            <a:ext cx="82296" cy="82296"/>
          </a:xfrm>
          <a:prstGeom prst="roundRect">
            <a:avLst>
              <a:gd name="adj" fmla="val 16667"/>
            </a:avLst>
          </a:prstGeom>
          <a:solidFill>
            <a:srgbClr val="64748B"/>
          </a:solidFill>
          <a:ln w="12700">
            <a:solidFill>
              <a:srgbClr val="64748B">
                <a:alpha val="0"/>
              </a:srgbClr>
            </a:solidFill>
            <a:prstDash val="solid"/>
          </a:ln>
        </p:spPr>
      </p:sp>
      <p:sp>
        <p:nvSpPr>
          <p:cNvPr id="10" name="Shape 8"/>
          <p:cNvSpPr/>
          <p:nvPr/>
        </p:nvSpPr>
        <p:spPr>
          <a:xfrm>
            <a:off x="844906" y="555955"/>
            <a:ext cx="82296" cy="82296"/>
          </a:xfrm>
          <a:prstGeom prst="roundRect">
            <a:avLst>
              <a:gd name="adj" fmla="val 16667"/>
            </a:avLst>
          </a:prstGeom>
          <a:solidFill>
            <a:srgbClr val="1EAAC8"/>
          </a:solidFill>
          <a:ln w="12700">
            <a:solidFill>
              <a:srgbClr val="1EAAC8">
                <a:alpha val="0"/>
              </a:srgbClr>
            </a:solidFill>
            <a:prstDash val="solid"/>
          </a:ln>
        </p:spPr>
      </p:sp>
      <p:sp>
        <p:nvSpPr>
          <p:cNvPr id="11" name="Shape 9"/>
          <p:cNvSpPr/>
          <p:nvPr/>
        </p:nvSpPr>
        <p:spPr>
          <a:xfrm>
            <a:off x="548640" y="654710"/>
            <a:ext cx="82296" cy="82296"/>
          </a:xfrm>
          <a:prstGeom prst="roundRect">
            <a:avLst>
              <a:gd name="adj" fmla="val 16667"/>
            </a:avLst>
          </a:prstGeom>
          <a:solidFill>
            <a:srgbClr val="94A3AF"/>
          </a:solidFill>
          <a:ln w="12700">
            <a:solidFill>
              <a:srgbClr val="94A3AF">
                <a:alpha val="0"/>
              </a:srgbClr>
            </a:solidFill>
            <a:prstDash val="solid"/>
          </a:ln>
        </p:spPr>
      </p:sp>
      <p:sp>
        <p:nvSpPr>
          <p:cNvPr id="12" name="Shape 10"/>
          <p:cNvSpPr/>
          <p:nvPr/>
        </p:nvSpPr>
        <p:spPr>
          <a:xfrm>
            <a:off x="647395" y="654710"/>
            <a:ext cx="82296" cy="82296"/>
          </a:xfrm>
          <a:prstGeom prst="roundRect">
            <a:avLst>
              <a:gd name="adj" fmla="val 16667"/>
            </a:avLst>
          </a:prstGeom>
          <a:solidFill>
            <a:srgbClr val="006DB6"/>
          </a:solidFill>
          <a:ln w="12700">
            <a:solidFill>
              <a:srgbClr val="006DB6">
                <a:alpha val="0"/>
              </a:srgbClr>
            </a:solidFill>
            <a:prstDash val="solid"/>
          </a:ln>
        </p:spPr>
      </p:sp>
      <p:sp>
        <p:nvSpPr>
          <p:cNvPr id="13" name="Shape 11"/>
          <p:cNvSpPr/>
          <p:nvPr/>
        </p:nvSpPr>
        <p:spPr>
          <a:xfrm>
            <a:off x="746150" y="654710"/>
            <a:ext cx="82296" cy="82296"/>
          </a:xfrm>
          <a:prstGeom prst="roundRect">
            <a:avLst>
              <a:gd name="adj" fmla="val 16667"/>
            </a:avLst>
          </a:prstGeom>
          <a:solidFill>
            <a:srgbClr val="1EAAC8"/>
          </a:solidFill>
          <a:ln w="12700">
            <a:solidFill>
              <a:srgbClr val="1EAAC8">
                <a:alpha val="0"/>
              </a:srgbClr>
            </a:solidFill>
            <a:prstDash val="solid"/>
          </a:ln>
        </p:spPr>
      </p:sp>
      <p:sp>
        <p:nvSpPr>
          <p:cNvPr id="14" name="Shape 12"/>
          <p:cNvSpPr/>
          <p:nvPr/>
        </p:nvSpPr>
        <p:spPr>
          <a:xfrm>
            <a:off x="844906" y="654710"/>
            <a:ext cx="82296" cy="82296"/>
          </a:xfrm>
          <a:prstGeom prst="roundRect">
            <a:avLst>
              <a:gd name="adj" fmla="val 16667"/>
            </a:avLst>
          </a:prstGeom>
          <a:solidFill>
            <a:srgbClr val="64748B"/>
          </a:solidFill>
          <a:ln w="12700">
            <a:solidFill>
              <a:srgbClr val="64748B">
                <a:alpha val="0"/>
              </a:srgbClr>
            </a:solidFill>
            <a:prstDash val="solid"/>
          </a:ln>
        </p:spPr>
      </p:sp>
      <p:sp>
        <p:nvSpPr>
          <p:cNvPr id="15" name="Text 13"/>
          <p:cNvSpPr/>
          <p:nvPr/>
        </p:nvSpPr>
        <p:spPr>
          <a:xfrm>
            <a:off x="1035101" y="438912"/>
            <a:ext cx="16459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TECHNIJIAN</a:t>
            </a:r>
            <a:endParaRPr lang="en-US" sz="1700" dirty="0"/>
          </a:p>
        </p:txBody>
      </p:sp>
      <p:sp>
        <p:nvSpPr>
          <p:cNvPr id="16" name="Shape 14"/>
          <p:cNvSpPr/>
          <p:nvPr/>
        </p:nvSpPr>
        <p:spPr>
          <a:xfrm>
            <a:off x="548640" y="1188720"/>
            <a:ext cx="822960" cy="54864"/>
          </a:xfrm>
          <a:prstGeom prst="rect">
            <a:avLst/>
          </a:prstGeom>
          <a:solidFill>
            <a:srgbClr val="F67D4B"/>
          </a:solidFill>
          <a:ln w="12700">
            <a:solidFill>
              <a:srgbClr val="F67D4B">
                <a:alpha val="0"/>
              </a:srgbClr>
            </a:solidFill>
            <a:prstDash val="solid"/>
          </a:ln>
        </p:spPr>
      </p:sp>
      <p:sp>
        <p:nvSpPr>
          <p:cNvPr id="17" name="Text 15"/>
          <p:cNvSpPr/>
          <p:nvPr/>
        </p:nvSpPr>
        <p:spPr>
          <a:xfrm>
            <a:off x="548640" y="1417320"/>
            <a:ext cx="1097280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Bottom Line</a:t>
            </a:r>
            <a:endParaRPr lang="en-US" sz="3200" dirty="0"/>
          </a:p>
        </p:txBody>
      </p:sp>
      <p:sp>
        <p:nvSpPr>
          <p:cNvPr id="18" name="Text 16"/>
          <p:cNvSpPr/>
          <p:nvPr/>
        </p:nvSpPr>
        <p:spPr>
          <a:xfrm>
            <a:off x="548640" y="2148840"/>
            <a:ext cx="10972800" cy="1280160"/>
          </a:xfrm>
          <a:prstGeom prst="rect">
            <a:avLst/>
          </a:prstGeom>
          <a:noFill/>
          <a:ln/>
        </p:spPr>
        <p:txBody>
          <a:bodyPr wrap="square" lIns="0" tIns="0" rIns="0" bIns="0" rtlCol="0" anchor="ctr"/>
          <a:lstStyle/>
          <a:p>
            <a:pPr indent="0" marL="0">
              <a:buNone/>
            </a:pPr>
            <a:r>
              <a:rPr lang="en-US" sz="1600" dirty="0">
                <a:solidFill>
                  <a:srgbClr val="DCE5F2"/>
                </a:solidFill>
                <a:latin typeface="Arial" pitchFamily="34" charset="0"/>
                <a:ea typeface="Arial" pitchFamily="34" charset="-122"/>
                <a:cs typeface="Arial" pitchFamily="34" charset="-120"/>
              </a:rPr>
              <a:t>A policy that says "we don't store client data on personal devices" is not a control. Reg S-P, FINRA 3110, and SEC 17a-4 require technical enforcement - and each layer in this design maps to a specific, cite-able requirement.</a:t>
            </a:r>
            <a:endParaRPr lang="en-US" sz="1600" dirty="0"/>
          </a:p>
        </p:txBody>
      </p:sp>
      <p:sp>
        <p:nvSpPr>
          <p:cNvPr id="19" name="Shape 17"/>
          <p:cNvSpPr/>
          <p:nvPr/>
        </p:nvSpPr>
        <p:spPr>
          <a:xfrm>
            <a:off x="822960" y="3639312"/>
            <a:ext cx="109728" cy="109728"/>
          </a:xfrm>
          <a:prstGeom prst="ellipse">
            <a:avLst/>
          </a:prstGeom>
          <a:solidFill>
            <a:srgbClr val="1EAAC8"/>
          </a:solidFill>
          <a:ln w="12700">
            <a:solidFill>
              <a:srgbClr val="1EAAC8">
                <a:alpha val="0"/>
              </a:srgbClr>
            </a:solidFill>
            <a:prstDash val="solid"/>
          </a:ln>
        </p:spPr>
      </p:sp>
      <p:sp>
        <p:nvSpPr>
          <p:cNvPr id="20" name="Text 18"/>
          <p:cNvSpPr/>
          <p:nvPr/>
        </p:nvSpPr>
        <p:spPr>
          <a:xfrm>
            <a:off x="1024128" y="356616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Scope is right-sized: 7 users in VDI, not firm-wide.</a:t>
            </a:r>
            <a:endParaRPr lang="en-US" sz="1600" dirty="0"/>
          </a:p>
        </p:txBody>
      </p:sp>
      <p:sp>
        <p:nvSpPr>
          <p:cNvPr id="21" name="Shape 19"/>
          <p:cNvSpPr/>
          <p:nvPr/>
        </p:nvSpPr>
        <p:spPr>
          <a:xfrm>
            <a:off x="822960" y="4142232"/>
            <a:ext cx="109728" cy="109728"/>
          </a:xfrm>
          <a:prstGeom prst="ellipse">
            <a:avLst/>
          </a:prstGeom>
          <a:solidFill>
            <a:srgbClr val="1EAAC8"/>
          </a:solidFill>
          <a:ln w="12700">
            <a:solidFill>
              <a:srgbClr val="1EAAC8">
                <a:alpha val="0"/>
              </a:srgbClr>
            </a:solidFill>
            <a:prstDash val="solid"/>
          </a:ln>
        </p:spPr>
      </p:sp>
      <p:sp>
        <p:nvSpPr>
          <p:cNvPr id="22" name="Text 20"/>
          <p:cNvSpPr/>
          <p:nvPr/>
        </p:nvSpPr>
        <p:spPr>
          <a:xfrm>
            <a:off x="1024128" y="406908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No duplication: every layer solves a distinct regulatory obligation.</a:t>
            </a:r>
            <a:endParaRPr lang="en-US" sz="1600" dirty="0"/>
          </a:p>
        </p:txBody>
      </p:sp>
      <p:sp>
        <p:nvSpPr>
          <p:cNvPr id="23" name="Shape 21"/>
          <p:cNvSpPr/>
          <p:nvPr/>
        </p:nvSpPr>
        <p:spPr>
          <a:xfrm>
            <a:off x="822960" y="4645152"/>
            <a:ext cx="109728" cy="109728"/>
          </a:xfrm>
          <a:prstGeom prst="ellipse">
            <a:avLst/>
          </a:prstGeom>
          <a:solidFill>
            <a:srgbClr val="1EAAC8"/>
          </a:solidFill>
          <a:ln w="12700">
            <a:solidFill>
              <a:srgbClr val="1EAAC8">
                <a:alpha val="0"/>
              </a:srgbClr>
            </a:solidFill>
            <a:prstDash val="solid"/>
          </a:ln>
        </p:spPr>
      </p:sp>
      <p:sp>
        <p:nvSpPr>
          <p:cNvPr id="24" name="Text 22"/>
          <p:cNvSpPr/>
          <p:nvPr/>
        </p:nvSpPr>
        <p:spPr>
          <a:xfrm>
            <a:off x="1024128" y="457200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Cost is reduced where possible without weakening the compliance posture.</a:t>
            </a:r>
            <a:endParaRPr lang="en-US" sz="1600" dirty="0"/>
          </a:p>
        </p:txBody>
      </p:sp>
      <p:sp>
        <p:nvSpPr>
          <p:cNvPr id="25" name="Shape 23"/>
          <p:cNvSpPr/>
          <p:nvPr/>
        </p:nvSpPr>
        <p:spPr>
          <a:xfrm>
            <a:off x="822960" y="5148072"/>
            <a:ext cx="109728" cy="109728"/>
          </a:xfrm>
          <a:prstGeom prst="ellipse">
            <a:avLst/>
          </a:prstGeom>
          <a:solidFill>
            <a:srgbClr val="1EAAC8"/>
          </a:solidFill>
          <a:ln w="12700">
            <a:solidFill>
              <a:srgbClr val="1EAAC8">
                <a:alpha val="0"/>
              </a:srgbClr>
            </a:solidFill>
            <a:prstDash val="solid"/>
          </a:ln>
        </p:spPr>
      </p:sp>
      <p:sp>
        <p:nvSpPr>
          <p:cNvPr id="26" name="Text 24"/>
          <p:cNvSpPr/>
          <p:nvPr/>
        </p:nvSpPr>
        <p:spPr>
          <a:xfrm>
            <a:off x="1024128" y="5074920"/>
            <a:ext cx="10515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Every control maps to a specific FINRA or SEC citation.</a:t>
            </a:r>
            <a:endParaRPr lang="en-US" sz="1600" dirty="0"/>
          </a:p>
        </p:txBody>
      </p:sp>
      <p:sp>
        <p:nvSpPr>
          <p:cNvPr id="27" name="Text 25"/>
          <p:cNvSpPr/>
          <p:nvPr/>
        </p:nvSpPr>
        <p:spPr>
          <a:xfrm>
            <a:off x="548640" y="5897880"/>
            <a:ext cx="7315200" cy="228600"/>
          </a:xfrm>
          <a:prstGeom prst="rect">
            <a:avLst/>
          </a:prstGeom>
          <a:noFill/>
          <a:ln/>
        </p:spPr>
        <p:txBody>
          <a:bodyPr wrap="square" lIns="0" tIns="0" rIns="0" bIns="0" rtlCol="0" anchor="ctr"/>
          <a:lstStyle/>
          <a:p>
            <a:pPr indent="0" marL="0">
              <a:buNone/>
            </a:pPr>
            <a:r>
              <a:rPr lang="en-US" sz="1000" dirty="0">
                <a:solidFill>
                  <a:srgbClr val="BFD0E5"/>
                </a:solidFill>
                <a:latin typeface="Arial" pitchFamily="34" charset="0"/>
                <a:ea typeface="Arial" pitchFamily="34" charset="-122"/>
                <a:cs typeface="Arial" pitchFamily="34" charset="-120"/>
              </a:rPr>
              <a:t>Technijian  |  AFFG IT Compliance Strategy  |  April 15,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Technijian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AFFG IT Compliance Strategy - Revised Proposal Review</dc:title>
  <dc:subject>AFFG IT Compliance Strategy - Revised Proposal Review</dc:subject>
  <dc:creator>Technijian</dc:creator>
  <cp:lastModifiedBy>Technijian</cp:lastModifiedBy>
  <cp:revision>1</cp:revision>
  <dcterms:created xsi:type="dcterms:W3CDTF">2026-04-15T16:58:19Z</dcterms:created>
  <dcterms:modified xsi:type="dcterms:W3CDTF">2026-04-15T16:58:19Z</dcterms:modified>
</cp:coreProperties>
</file>